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69" r:id="rId3"/>
    <p:sldId id="284" r:id="rId4"/>
    <p:sldId id="285" r:id="rId5"/>
    <p:sldId id="270" r:id="rId6"/>
    <p:sldId id="258" r:id="rId7"/>
    <p:sldId id="259" r:id="rId8"/>
    <p:sldId id="272" r:id="rId9"/>
    <p:sldId id="271" r:id="rId10"/>
    <p:sldId id="275" r:id="rId11"/>
    <p:sldId id="274" r:id="rId12"/>
    <p:sldId id="260" r:id="rId13"/>
    <p:sldId id="279" r:id="rId14"/>
    <p:sldId id="280" r:id="rId15"/>
    <p:sldId id="278" r:id="rId16"/>
    <p:sldId id="281" r:id="rId17"/>
    <p:sldId id="276" r:id="rId18"/>
    <p:sldId id="261" r:id="rId19"/>
    <p:sldId id="286" r:id="rId20"/>
    <p:sldId id="263" r:id="rId21"/>
    <p:sldId id="282" r:id="rId22"/>
    <p:sldId id="264" r:id="rId23"/>
    <p:sldId id="262" r:id="rId24"/>
    <p:sldId id="265" r:id="rId25"/>
    <p:sldId id="267" r:id="rId26"/>
    <p:sldId id="266" r:id="rId27"/>
    <p:sldId id="268" r:id="rId28"/>
    <p:sldId id="283" r:id="rId29"/>
  </p:sldIdLst>
  <p:sldSz cx="12192000" cy="6858000"/>
  <p:notesSz cx="6858000" cy="9144000"/>
  <p:embeddedFontLst>
    <p:embeddedFont>
      <p:font typeface="Malgun Gothic" panose="020B0503020000020004" pitchFamily="34" charset="-127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iNoQVmHOA0ay1lucTdzWj/9A2L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90"/>
    <p:restoredTop sz="96595"/>
  </p:normalViewPr>
  <p:slideViewPr>
    <p:cSldViewPr snapToGrid="0">
      <p:cViewPr varScale="1">
        <p:scale>
          <a:sx n="127" d="100"/>
          <a:sy n="127" d="100"/>
        </p:scale>
        <p:origin x="8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표지 : 이미지 교체 예정</a:t>
            </a:r>
            <a:endParaRPr/>
          </a:p>
        </p:txBody>
      </p:sp>
      <p:sp>
        <p:nvSpPr>
          <p:cNvPr id="109" name="Google Shape;10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F78069DC-69E1-E901-D312-4D0ED8155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24a6a6617_0_8:notes">
            <a:extLst>
              <a:ext uri="{FF2B5EF4-FFF2-40B4-BE49-F238E27FC236}">
                <a16:creationId xmlns:a16="http://schemas.microsoft.com/office/drawing/2014/main" id="{7DD1CD17-6DBD-4C1A-8959-34788E8816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3f24a6a6617_0_8:notes">
            <a:extLst>
              <a:ext uri="{FF2B5EF4-FFF2-40B4-BE49-F238E27FC236}">
                <a16:creationId xmlns:a16="http://schemas.microsoft.com/office/drawing/2014/main" id="{AF0C8F1F-25F0-386B-4917-D0BC1646CD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2276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7CCBEA83-E3DE-ED88-B37F-1E7187910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24a6a6617_0_8:notes">
            <a:extLst>
              <a:ext uri="{FF2B5EF4-FFF2-40B4-BE49-F238E27FC236}">
                <a16:creationId xmlns:a16="http://schemas.microsoft.com/office/drawing/2014/main" id="{C5AD6A07-4FA4-2B4A-58D7-AFE2395FF1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3f24a6a6617_0_8:notes">
            <a:extLst>
              <a:ext uri="{FF2B5EF4-FFF2-40B4-BE49-F238E27FC236}">
                <a16:creationId xmlns:a16="http://schemas.microsoft.com/office/drawing/2014/main" id="{7DF44557-7BB8-DC74-B260-2E6DB2E327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6468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2FBD4B69-84C0-6FEB-6555-F7598A299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24a6a6617_0_8:notes">
            <a:extLst>
              <a:ext uri="{FF2B5EF4-FFF2-40B4-BE49-F238E27FC236}">
                <a16:creationId xmlns:a16="http://schemas.microsoft.com/office/drawing/2014/main" id="{3EE069B7-3869-702B-2D5B-0098AA0F83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3f24a6a6617_0_8:notes">
            <a:extLst>
              <a:ext uri="{FF2B5EF4-FFF2-40B4-BE49-F238E27FC236}">
                <a16:creationId xmlns:a16="http://schemas.microsoft.com/office/drawing/2014/main" id="{B2F38F1F-82BA-AD08-0EE8-79EEE74D6F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5130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293B7E3D-A645-D165-8E82-6F5AA7310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24a6a6617_0_8:notes">
            <a:extLst>
              <a:ext uri="{FF2B5EF4-FFF2-40B4-BE49-F238E27FC236}">
                <a16:creationId xmlns:a16="http://schemas.microsoft.com/office/drawing/2014/main" id="{2D3356F8-2545-AF22-A161-09455C891E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3f24a6a6617_0_8:notes">
            <a:extLst>
              <a:ext uri="{FF2B5EF4-FFF2-40B4-BE49-F238E27FC236}">
                <a16:creationId xmlns:a16="http://schemas.microsoft.com/office/drawing/2014/main" id="{097BF7F7-FE8E-33C8-9784-03B29412DF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40402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24a6a6617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3f24a6a6617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810BDA1C-6AD7-538F-6E47-281063EC1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:notes">
            <a:extLst>
              <a:ext uri="{FF2B5EF4-FFF2-40B4-BE49-F238E27FC236}">
                <a16:creationId xmlns:a16="http://schemas.microsoft.com/office/drawing/2014/main" id="{CFBA2CC1-9195-AAA9-DD48-0BDB5648B9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:notes">
            <a:extLst>
              <a:ext uri="{FF2B5EF4-FFF2-40B4-BE49-F238E27FC236}">
                <a16:creationId xmlns:a16="http://schemas.microsoft.com/office/drawing/2014/main" id="{EABDD9D1-8F18-3E5C-0005-693AEADD94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70695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267C6A43-7D68-2B6C-4B88-30B5809CF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:notes">
            <a:extLst>
              <a:ext uri="{FF2B5EF4-FFF2-40B4-BE49-F238E27FC236}">
                <a16:creationId xmlns:a16="http://schemas.microsoft.com/office/drawing/2014/main" id="{66EA36B4-E385-A773-A7E5-D05BF62ED2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:notes">
            <a:extLst>
              <a:ext uri="{FF2B5EF4-FFF2-40B4-BE49-F238E27FC236}">
                <a16:creationId xmlns:a16="http://schemas.microsoft.com/office/drawing/2014/main" id="{4C53949C-4A20-E66A-4918-9B6BACDF62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74434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6941EF6-89A9-58EB-5C06-CD730BB67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:notes">
            <a:extLst>
              <a:ext uri="{FF2B5EF4-FFF2-40B4-BE49-F238E27FC236}">
                <a16:creationId xmlns:a16="http://schemas.microsoft.com/office/drawing/2014/main" id="{5042011D-63F5-07F6-D3BC-0A15532A3D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:notes">
            <a:extLst>
              <a:ext uri="{FF2B5EF4-FFF2-40B4-BE49-F238E27FC236}">
                <a16:creationId xmlns:a16="http://schemas.microsoft.com/office/drawing/2014/main" id="{FB42BB4B-09D1-2C44-5096-2A19DC592A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99734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F77A278B-4817-3AFC-1827-E6516B6C6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:notes">
            <a:extLst>
              <a:ext uri="{FF2B5EF4-FFF2-40B4-BE49-F238E27FC236}">
                <a16:creationId xmlns:a16="http://schemas.microsoft.com/office/drawing/2014/main" id="{CC379BAC-71CD-1DA5-D317-0473531A0E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:notes">
            <a:extLst>
              <a:ext uri="{FF2B5EF4-FFF2-40B4-BE49-F238E27FC236}">
                <a16:creationId xmlns:a16="http://schemas.microsoft.com/office/drawing/2014/main" id="{528337E7-1FFE-AD81-36F0-CB91AE0D60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84735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F67F8367-B781-9BD5-2A68-EBD56624A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>
            <a:extLst>
              <a:ext uri="{FF2B5EF4-FFF2-40B4-BE49-F238E27FC236}">
                <a16:creationId xmlns:a16="http://schemas.microsoft.com/office/drawing/2014/main" id="{DC1FF44B-481E-DBD7-819E-1FB71772AD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>
            <a:extLst>
              <a:ext uri="{FF2B5EF4-FFF2-40B4-BE49-F238E27FC236}">
                <a16:creationId xmlns:a16="http://schemas.microsoft.com/office/drawing/2014/main" id="{DB83FF61-C139-18D4-90F7-0AEA712C3A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67367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522CB4D5-9C7B-D7CE-037F-9F0C26C7C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>
            <a:extLst>
              <a:ext uri="{FF2B5EF4-FFF2-40B4-BE49-F238E27FC236}">
                <a16:creationId xmlns:a16="http://schemas.microsoft.com/office/drawing/2014/main" id="{52348CD3-871A-430D-6696-4AF5AA4C0C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>
            <a:extLst>
              <a:ext uri="{FF2B5EF4-FFF2-40B4-BE49-F238E27FC236}">
                <a16:creationId xmlns:a16="http://schemas.microsoft.com/office/drawing/2014/main" id="{8C047555-6C65-C710-9E1F-78405CEC32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97218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2AB2E448-7BBB-FC04-DEE9-CF0505FF1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>
            <a:extLst>
              <a:ext uri="{FF2B5EF4-FFF2-40B4-BE49-F238E27FC236}">
                <a16:creationId xmlns:a16="http://schemas.microsoft.com/office/drawing/2014/main" id="{FCA09F65-7658-7829-B8CD-540FF52C51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>
            <a:extLst>
              <a:ext uri="{FF2B5EF4-FFF2-40B4-BE49-F238E27FC236}">
                <a16:creationId xmlns:a16="http://schemas.microsoft.com/office/drawing/2014/main" id="{580E02D3-A33D-4BBE-BCA6-A17DD24ACB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68836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B89CFDCE-9D4C-56CC-546F-53EAB15E7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>
            <a:extLst>
              <a:ext uri="{FF2B5EF4-FFF2-40B4-BE49-F238E27FC236}">
                <a16:creationId xmlns:a16="http://schemas.microsoft.com/office/drawing/2014/main" id="{82A99748-4D71-346D-FF15-5971D6F0CA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>
            <a:extLst>
              <a:ext uri="{FF2B5EF4-FFF2-40B4-BE49-F238E27FC236}">
                <a16:creationId xmlns:a16="http://schemas.microsoft.com/office/drawing/2014/main" id="{1D8D73C2-FBA8-85E5-25F6-501B4B641A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14186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4E54914D-8FC4-FDCF-DC55-619564B8C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>
            <a:extLst>
              <a:ext uri="{FF2B5EF4-FFF2-40B4-BE49-F238E27FC236}">
                <a16:creationId xmlns:a16="http://schemas.microsoft.com/office/drawing/2014/main" id="{C3D5CB16-6C22-897C-DE3A-11DF24C3E0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>
            <a:extLst>
              <a:ext uri="{FF2B5EF4-FFF2-40B4-BE49-F238E27FC236}">
                <a16:creationId xmlns:a16="http://schemas.microsoft.com/office/drawing/2014/main" id="{AE11BBA4-C297-1E0C-0A22-FC1AB10358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66336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8CA718B9-4360-5426-F7B5-F5C01001B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>
            <a:extLst>
              <a:ext uri="{FF2B5EF4-FFF2-40B4-BE49-F238E27FC236}">
                <a16:creationId xmlns:a16="http://schemas.microsoft.com/office/drawing/2014/main" id="{9A077294-7EB8-0323-B3E6-1A51B0965C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>
            <a:extLst>
              <a:ext uri="{FF2B5EF4-FFF2-40B4-BE49-F238E27FC236}">
                <a16:creationId xmlns:a16="http://schemas.microsoft.com/office/drawing/2014/main" id="{886023AE-F537-75A7-4220-EEFACBF5A1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78401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BB5D7A0-2F28-92A9-CDF5-E1E4ACBBD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002616D5-C74C-6D1A-EE39-F444D85AFD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:notes">
            <a:extLst>
              <a:ext uri="{FF2B5EF4-FFF2-40B4-BE49-F238E27FC236}">
                <a16:creationId xmlns:a16="http://schemas.microsoft.com/office/drawing/2014/main" id="{24945BA6-1388-5696-3BA4-61D1D6F9A3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62003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23586c10d_3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g3f23586c10d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>
          <a:extLst>
            <a:ext uri="{FF2B5EF4-FFF2-40B4-BE49-F238E27FC236}">
              <a16:creationId xmlns:a16="http://schemas.microsoft.com/office/drawing/2014/main" id="{A5B8C10F-8EF5-788E-D69D-7B3F623CC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23586c10d_3_0:notes">
            <a:extLst>
              <a:ext uri="{FF2B5EF4-FFF2-40B4-BE49-F238E27FC236}">
                <a16:creationId xmlns:a16="http://schemas.microsoft.com/office/drawing/2014/main" id="{48F5551F-304A-5589-4324-65FF9DA082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g3f23586c10d_3_0:notes">
            <a:extLst>
              <a:ext uri="{FF2B5EF4-FFF2-40B4-BE49-F238E27FC236}">
                <a16:creationId xmlns:a16="http://schemas.microsoft.com/office/drawing/2014/main" id="{88C0B8D6-17AD-145D-59F2-363C934714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3665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>
  <p:cSld name="1_제목 슬라이드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17;p13"/>
          <p:cNvCxnSpPr/>
          <p:nvPr/>
        </p:nvCxnSpPr>
        <p:spPr>
          <a:xfrm>
            <a:off x="862205" y="2286000"/>
            <a:ext cx="0" cy="1069750"/>
          </a:xfrm>
          <a:prstGeom prst="straightConnector1">
            <a:avLst/>
          </a:prstGeom>
          <a:noFill/>
          <a:ln w="57150" cap="flat" cmpd="sng">
            <a:solidFill>
              <a:srgbClr val="02BDB6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8" name="Google Shape;18;p13"/>
          <p:cNvSpPr txBox="1"/>
          <p:nvPr/>
        </p:nvSpPr>
        <p:spPr>
          <a:xfrm>
            <a:off x="983632" y="2095201"/>
            <a:ext cx="8245702" cy="1451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i="0" u="none" strike="noStrike" cap="none">
                <a:solidFill>
                  <a:srgbClr val="67BDC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400" b="1" i="0" u="none" strike="noStrike" cap="none">
                <a:solidFill>
                  <a:srgbClr val="67BDC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2800" b="1" i="0" u="none" strike="noStrike" cap="none">
                <a:solidFill>
                  <a:srgbClr val="02BDB6"/>
                </a:solidFill>
                <a:latin typeface="Arial"/>
                <a:ea typeface="Arial"/>
                <a:cs typeface="Arial"/>
                <a:sym typeface="Arial"/>
              </a:rPr>
              <a:t>KT AIVLE School</a:t>
            </a:r>
            <a:endParaRPr/>
          </a:p>
        </p:txBody>
      </p:sp>
      <p:sp>
        <p:nvSpPr>
          <p:cNvPr id="19" name="Google Shape;19;p13"/>
          <p:cNvSpPr/>
          <p:nvPr/>
        </p:nvSpPr>
        <p:spPr>
          <a:xfrm>
            <a:off x="9765915" y="6335312"/>
            <a:ext cx="222736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Make it possible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13" descr="텍스트, 클립아트이(가) 표시된 사진&#10;&#10;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10964" y="5829300"/>
            <a:ext cx="1927553" cy="41765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3"/>
          <p:cNvSpPr txBox="1">
            <a:spLocks noGrp="1"/>
          </p:cNvSpPr>
          <p:nvPr>
            <p:ph type="body" idx="1"/>
          </p:nvPr>
        </p:nvSpPr>
        <p:spPr>
          <a:xfrm>
            <a:off x="1036002" y="2732724"/>
            <a:ext cx="8402637" cy="823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 b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>
  <p:cSld name="2_사용자 지정 레이아웃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4"/>
          <p:cNvSpPr txBox="1">
            <a:spLocks noGrp="1"/>
          </p:cNvSpPr>
          <p:nvPr>
            <p:ph type="body" idx="1"/>
          </p:nvPr>
        </p:nvSpPr>
        <p:spPr>
          <a:xfrm>
            <a:off x="427038" y="1401763"/>
            <a:ext cx="11307762" cy="491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37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4F55"/>
              </a:buClr>
              <a:buSzPts val="2600"/>
              <a:buFont typeface="Noto Sans Symbols"/>
              <a:buChar char="✔"/>
              <a:defRPr sz="2600" b="1">
                <a:solidFill>
                  <a:srgbClr val="204F55"/>
                </a:solidFill>
              </a:defRPr>
            </a:lvl1pPr>
            <a:lvl2pPr marL="914400" lvl="1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▪"/>
              <a:defRPr sz="2000">
                <a:solidFill>
                  <a:srgbClr val="204F55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04F55"/>
              </a:buClr>
              <a:buSzPts val="1800"/>
              <a:buChar char="•"/>
              <a:defRPr sz="1800">
                <a:solidFill>
                  <a:srgbClr val="204F55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04F55"/>
              </a:buClr>
              <a:buSzPts val="1800"/>
              <a:buFont typeface="Malgun Gothic"/>
              <a:buChar char="–"/>
              <a:defRPr>
                <a:solidFill>
                  <a:srgbClr val="204F55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title"/>
          </p:nvPr>
        </p:nvSpPr>
        <p:spPr>
          <a:xfrm>
            <a:off x="177800" y="144035"/>
            <a:ext cx="10515600" cy="75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3600"/>
              <a:buFont typeface="Arial"/>
              <a:buNone/>
              <a:defRPr sz="3600" b="1">
                <a:solidFill>
                  <a:srgbClr val="204F5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11469950" y="6492875"/>
            <a:ext cx="5950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lt1">
            <a:alpha val="30196"/>
          </a:schemeClr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6"/>
          <p:cNvSpPr txBox="1">
            <a:spLocks noGrp="1"/>
          </p:cNvSpPr>
          <p:nvPr>
            <p:ph type="body" idx="1"/>
          </p:nvPr>
        </p:nvSpPr>
        <p:spPr>
          <a:xfrm>
            <a:off x="269241" y="1372096"/>
            <a:ext cx="11653523" cy="1936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41148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24D60"/>
              </a:buClr>
              <a:buSzPts val="2880"/>
              <a:buFont typeface="Noto Sans Symbols"/>
              <a:buChar char="✔"/>
              <a:defRPr sz="2880" b="1">
                <a:solidFill>
                  <a:srgbClr val="224D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6576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24D60"/>
              </a:buClr>
              <a:buSzPts val="2160"/>
              <a:buFont typeface="Noto Sans Symbols"/>
              <a:buChar char="▪"/>
              <a:defRPr sz="2160">
                <a:solidFill>
                  <a:srgbClr val="224D60"/>
                </a:solidFill>
              </a:defRPr>
            </a:lvl2pPr>
            <a:lvl3pPr marL="1371600" lvl="2" indent="-35052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24D60"/>
              </a:buClr>
              <a:buSzPts val="1920"/>
              <a:buChar char="•"/>
              <a:defRPr sz="1920">
                <a:solidFill>
                  <a:srgbClr val="224D60"/>
                </a:solidFill>
              </a:defRPr>
            </a:lvl3pPr>
            <a:lvl4pPr marL="1828800" lvl="3" indent="-33528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24D60"/>
              </a:buClr>
              <a:buSzPts val="1680"/>
              <a:buChar char="•"/>
              <a:defRPr sz="1680">
                <a:solidFill>
                  <a:srgbClr val="224D60"/>
                </a:solidFill>
              </a:defRPr>
            </a:lvl4pPr>
            <a:lvl5pPr marL="2286000" lvl="4" indent="-33528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24D60"/>
              </a:buClr>
              <a:buSzPts val="1680"/>
              <a:buChar char="•"/>
              <a:defRPr sz="1680">
                <a:solidFill>
                  <a:srgbClr val="224D6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26"/>
          <p:cNvSpPr txBox="1">
            <a:spLocks noGrp="1"/>
          </p:cNvSpPr>
          <p:nvPr>
            <p:ph type="title"/>
          </p:nvPr>
        </p:nvSpPr>
        <p:spPr>
          <a:xfrm>
            <a:off x="269240" y="282049"/>
            <a:ext cx="11655840" cy="899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4D60"/>
              </a:buClr>
              <a:buSzPts val="3840"/>
              <a:buFont typeface="Arial"/>
              <a:buNone/>
              <a:defRPr sz="3840" b="1">
                <a:solidFill>
                  <a:srgbClr val="224D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99" name="Google Shape;99;p26"/>
          <p:cNvCxnSpPr/>
          <p:nvPr/>
        </p:nvCxnSpPr>
        <p:spPr>
          <a:xfrm>
            <a:off x="392966" y="1181713"/>
            <a:ext cx="11799034" cy="0"/>
          </a:xfrm>
          <a:prstGeom prst="straightConnector1">
            <a:avLst/>
          </a:prstGeom>
          <a:noFill/>
          <a:ln w="76200" cap="flat" cmpd="sng">
            <a:solidFill>
              <a:srgbClr val="224D6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0" name="Google Shape;100;p26"/>
          <p:cNvSpPr txBox="1">
            <a:spLocks noGrp="1"/>
          </p:cNvSpPr>
          <p:nvPr>
            <p:ph type="sldNum" idx="12"/>
          </p:nvPr>
        </p:nvSpPr>
        <p:spPr>
          <a:xfrm>
            <a:off x="11469950" y="6492875"/>
            <a:ext cx="5950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>
  <p:cSld name="Section Title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7"/>
          <p:cNvSpPr txBox="1">
            <a:spLocks noGrp="1"/>
          </p:cNvSpPr>
          <p:nvPr>
            <p:ph type="title"/>
          </p:nvPr>
        </p:nvSpPr>
        <p:spPr>
          <a:xfrm>
            <a:off x="1170653" y="2721937"/>
            <a:ext cx="10924930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4D60"/>
              </a:buClr>
              <a:buSzPts val="4800"/>
              <a:buFont typeface="Arial"/>
              <a:buNone/>
              <a:defRPr sz="4800" b="1">
                <a:solidFill>
                  <a:srgbClr val="224D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03" name="Google Shape;103;p27"/>
          <p:cNvCxnSpPr/>
          <p:nvPr/>
        </p:nvCxnSpPr>
        <p:spPr>
          <a:xfrm>
            <a:off x="1084243" y="2618075"/>
            <a:ext cx="0" cy="1019356"/>
          </a:xfrm>
          <a:prstGeom prst="straightConnector1">
            <a:avLst/>
          </a:prstGeom>
          <a:noFill/>
          <a:ln w="101600" cap="flat" cmpd="sng">
            <a:solidFill>
              <a:srgbClr val="224D60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4" name="Google Shape;104;p27"/>
          <p:cNvCxnSpPr/>
          <p:nvPr/>
        </p:nvCxnSpPr>
        <p:spPr>
          <a:xfrm>
            <a:off x="392966" y="145435"/>
            <a:ext cx="11799034" cy="0"/>
          </a:xfrm>
          <a:prstGeom prst="straightConnector1">
            <a:avLst/>
          </a:prstGeom>
          <a:noFill/>
          <a:ln w="76200" cap="flat" cmpd="sng">
            <a:solidFill>
              <a:srgbClr val="224D6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5" name="Google Shape;105;p27"/>
          <p:cNvSpPr txBox="1">
            <a:spLocks noGrp="1"/>
          </p:cNvSpPr>
          <p:nvPr>
            <p:ph type="sldNum" idx="12"/>
          </p:nvPr>
        </p:nvSpPr>
        <p:spPr>
          <a:xfrm>
            <a:off x="9318073" y="6494146"/>
            <a:ext cx="2743200" cy="363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4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44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44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44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44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44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44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44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44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eg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 txBox="1">
            <a:spLocks noGrp="1"/>
          </p:cNvSpPr>
          <p:nvPr>
            <p:ph type="body" idx="1"/>
          </p:nvPr>
        </p:nvSpPr>
        <p:spPr>
          <a:xfrm>
            <a:off x="1036001" y="2732724"/>
            <a:ext cx="10263369" cy="823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ko-KR"/>
              <a:t>웹 서비스를 위한 CI/CD 환경 구현</a:t>
            </a:r>
            <a:endParaRPr/>
          </a:p>
        </p:txBody>
      </p:sp>
      <p:sp>
        <p:nvSpPr>
          <p:cNvPr id="112" name="Google Shape;112;p1"/>
          <p:cNvSpPr txBox="1">
            <a:spLocks noGrp="1"/>
          </p:cNvSpPr>
          <p:nvPr>
            <p:ph type="body" idx="1"/>
          </p:nvPr>
        </p:nvSpPr>
        <p:spPr>
          <a:xfrm>
            <a:off x="1126702" y="3444106"/>
            <a:ext cx="4175400" cy="4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ko-KR" sz="2200" b="0"/>
              <a:t>미니프로젝트 6차 5반 14조</a:t>
            </a:r>
            <a:endParaRPr sz="2200" b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920F8C67-8E3D-08B0-43E9-93E1C5387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24a6a6617_0_8">
            <a:extLst>
              <a:ext uri="{FF2B5EF4-FFF2-40B4-BE49-F238E27FC236}">
                <a16:creationId xmlns:a16="http://schemas.microsoft.com/office/drawing/2014/main" id="{9C1A51B0-CD02-B926-305E-49C2B9F86E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69950" y="6492875"/>
            <a:ext cx="59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</a:t>
            </a:fld>
            <a:endParaRPr/>
          </a:p>
        </p:txBody>
      </p:sp>
      <p:sp>
        <p:nvSpPr>
          <p:cNvPr id="118" name="Google Shape;118;g3f24a6a6617_0_8">
            <a:extLst>
              <a:ext uri="{FF2B5EF4-FFF2-40B4-BE49-F238E27FC236}">
                <a16:creationId xmlns:a16="http://schemas.microsoft.com/office/drawing/2014/main" id="{88FAF2E9-C11D-7C16-C445-70E01749A9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7038" y="1401763"/>
            <a:ext cx="11241300" cy="3632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56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✔"/>
            </a:pPr>
            <a:r>
              <a:rPr lang="ko-KR" sz="2000" b="0" dirty="0"/>
              <a:t>시나리오 정립 및 아키텍처 설계</a:t>
            </a:r>
            <a:endParaRPr sz="2000" b="0" dirty="0"/>
          </a:p>
          <a:p>
            <a:pPr marL="355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dirty="0"/>
          </a:p>
          <a:p>
            <a:pPr marL="3556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✔"/>
            </a:pPr>
            <a:r>
              <a:rPr lang="ko-KR" sz="2000" b="0" dirty="0"/>
              <a:t>CI 환경 구축 : </a:t>
            </a:r>
            <a:r>
              <a:rPr lang="ko-KR" sz="2000" b="0" dirty="0" err="1"/>
              <a:t>CodePipeline</a:t>
            </a:r>
            <a:r>
              <a:rPr lang="ko-KR" sz="2000" b="0" dirty="0"/>
              <a:t> &amp; </a:t>
            </a:r>
            <a:r>
              <a:rPr lang="ko-KR" sz="2000" b="0" dirty="0" err="1"/>
              <a:t>CodeBuild</a:t>
            </a:r>
            <a:endParaRPr sz="2000" b="0" dirty="0"/>
          </a:p>
          <a:p>
            <a:pPr marL="355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dirty="0"/>
          </a:p>
          <a:p>
            <a:pPr marL="3556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✔"/>
            </a:pPr>
            <a:r>
              <a:rPr lang="ko-KR" sz="2000" b="0" dirty="0"/>
              <a:t>CD </a:t>
            </a:r>
            <a:r>
              <a:rPr lang="ko-KR" altLang="en-US" sz="2000" b="0" dirty="0"/>
              <a:t>환경 구축 </a:t>
            </a:r>
            <a:r>
              <a:rPr lang="en-US" altLang="ko-KR" sz="2000" b="0" dirty="0"/>
              <a:t>:</a:t>
            </a:r>
            <a:r>
              <a:rPr lang="ko-KR" altLang="en-US" sz="2000" b="0" dirty="0"/>
              <a:t> </a:t>
            </a:r>
            <a:r>
              <a:rPr lang="en-US" altLang="ko-KR" sz="2000" b="0" dirty="0" err="1"/>
              <a:t>CodeDeploy</a:t>
            </a:r>
            <a:r>
              <a:rPr lang="ko-KR" altLang="en-US" sz="2000" b="0" dirty="0"/>
              <a:t> 연동 및 배포 자동화</a:t>
            </a:r>
            <a:endParaRPr sz="2000" b="0" dirty="0"/>
          </a:p>
          <a:p>
            <a:pPr marL="355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dirty="0"/>
          </a:p>
          <a:p>
            <a:pPr marL="3556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✔"/>
            </a:pPr>
            <a:r>
              <a:rPr lang="ko-KR" altLang="en-US" sz="2000" b="0" dirty="0"/>
              <a:t>운영 인프라 확장 </a:t>
            </a:r>
            <a:r>
              <a:rPr lang="en-US" altLang="ko-KR" sz="2000" b="0" dirty="0"/>
              <a:t>:</a:t>
            </a:r>
            <a:r>
              <a:rPr lang="ko-KR" altLang="en-US" sz="2000" b="0" dirty="0"/>
              <a:t> </a:t>
            </a:r>
            <a:r>
              <a:rPr lang="en-US" altLang="ko-KR" sz="2000" b="0" dirty="0"/>
              <a:t>ALB, Auto Scaling Group</a:t>
            </a:r>
            <a:endParaRPr sz="2000" b="0" dirty="0"/>
          </a:p>
          <a:p>
            <a:pPr marL="355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2000" b="0" dirty="0"/>
          </a:p>
          <a:p>
            <a:pPr marL="3556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✔"/>
            </a:pPr>
            <a:r>
              <a:rPr lang="ko-KR" altLang="en-US" sz="2000" b="0" dirty="0"/>
              <a:t>모니터링 </a:t>
            </a:r>
            <a:r>
              <a:rPr lang="en-US" altLang="ko-KR" sz="2000" b="0" dirty="0"/>
              <a:t>:</a:t>
            </a:r>
            <a:r>
              <a:rPr lang="ko-KR" altLang="en-US" sz="2000" b="0" dirty="0"/>
              <a:t> </a:t>
            </a:r>
            <a:r>
              <a:rPr lang="en-US" altLang="ko-KR" sz="2000" b="0" dirty="0"/>
              <a:t>CloudWatch</a:t>
            </a:r>
            <a:r>
              <a:rPr lang="ko-KR" altLang="en-US" sz="2000" b="0" dirty="0"/>
              <a:t> </a:t>
            </a:r>
            <a:r>
              <a:rPr lang="en-US" altLang="ko-KR" sz="2000" b="0" dirty="0"/>
              <a:t>+</a:t>
            </a:r>
            <a:r>
              <a:rPr lang="ko-KR" altLang="en-US" sz="2000" b="0" dirty="0"/>
              <a:t> </a:t>
            </a:r>
            <a:r>
              <a:rPr lang="en-US" altLang="ko-KR" sz="2000" b="0" dirty="0"/>
              <a:t>SNS</a:t>
            </a:r>
            <a:r>
              <a:rPr lang="ko-KR" altLang="en-US" sz="2000" b="0" dirty="0"/>
              <a:t> 기반 운영 확인</a:t>
            </a:r>
          </a:p>
          <a:p>
            <a:pPr marL="355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2000" b="0" dirty="0"/>
          </a:p>
          <a:p>
            <a:pPr marL="3556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✔"/>
            </a:pPr>
            <a:r>
              <a:rPr lang="ko-KR" altLang="en-US" sz="2000" b="0" dirty="0"/>
              <a:t>이메일 수동 승인</a:t>
            </a:r>
          </a:p>
        </p:txBody>
      </p:sp>
      <p:sp>
        <p:nvSpPr>
          <p:cNvPr id="119" name="Google Shape;119;g3f24a6a6617_0_8">
            <a:extLst>
              <a:ext uri="{FF2B5EF4-FFF2-40B4-BE49-F238E27FC236}">
                <a16:creationId xmlns:a16="http://schemas.microsoft.com/office/drawing/2014/main" id="{D700F3A3-E1EA-2E95-20BF-E82326D952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800" y="144035"/>
            <a:ext cx="105156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3000"/>
              <a:buFont typeface="Arial"/>
              <a:buNone/>
            </a:pPr>
            <a:r>
              <a:rPr lang="ko-KR" sz="3000" dirty="0"/>
              <a:t>목차</a:t>
            </a:r>
            <a:endParaRPr dirty="0"/>
          </a:p>
        </p:txBody>
      </p:sp>
      <p:sp>
        <p:nvSpPr>
          <p:cNvPr id="3" name="Google Shape;118;g3f24a6a6617_0_8">
            <a:extLst>
              <a:ext uri="{FF2B5EF4-FFF2-40B4-BE49-F238E27FC236}">
                <a16:creationId xmlns:a16="http://schemas.microsoft.com/office/drawing/2014/main" id="{2C38F9A8-7CCB-E00C-55D5-47A5DC08899A}"/>
              </a:ext>
            </a:extLst>
          </p:cNvPr>
          <p:cNvSpPr txBox="1">
            <a:spLocks/>
          </p:cNvSpPr>
          <p:nvPr/>
        </p:nvSpPr>
        <p:spPr>
          <a:xfrm>
            <a:off x="427038" y="4824918"/>
            <a:ext cx="11241300" cy="625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937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4F55"/>
              </a:buClr>
              <a:buSzPts val="2600"/>
              <a:buFont typeface="Noto Sans Symbols"/>
              <a:buChar char="✔"/>
              <a:defRPr sz="2600" b="1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04F5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04F55"/>
              </a:buClr>
              <a:buSzPts val="1800"/>
              <a:buFont typeface="Malgun Gothic"/>
              <a:buChar char="–"/>
              <a:defRPr sz="1800" b="0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355600" indent="0">
              <a:spcBef>
                <a:spcPts val="0"/>
              </a:spcBef>
              <a:buFont typeface="Noto Sans Symbols"/>
              <a:buNone/>
            </a:pPr>
            <a:endParaRPr lang="ko-KR" altLang="en-US" sz="2000" b="0" dirty="0"/>
          </a:p>
          <a:p>
            <a:pPr marL="355600" indent="-355600">
              <a:spcBef>
                <a:spcPts val="0"/>
              </a:spcBef>
              <a:buSzPts val="2000"/>
            </a:pPr>
            <a:r>
              <a:rPr lang="ko-KR" altLang="en-US" sz="2000" b="0" dirty="0"/>
              <a:t>트러블슈팅</a:t>
            </a:r>
          </a:p>
        </p:txBody>
      </p:sp>
    </p:spTree>
    <p:extLst>
      <p:ext uri="{BB962C8B-B14F-4D97-AF65-F5344CB8AC3E}">
        <p14:creationId xmlns:p14="http://schemas.microsoft.com/office/powerpoint/2010/main" val="2928012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C50B74DD-8F26-43A9-F59A-40F4342A9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24a6a6617_0_8">
            <a:extLst>
              <a:ext uri="{FF2B5EF4-FFF2-40B4-BE49-F238E27FC236}">
                <a16:creationId xmlns:a16="http://schemas.microsoft.com/office/drawing/2014/main" id="{D703DB35-1B11-D2F5-5B03-C0A4EB9491C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69950" y="6492875"/>
            <a:ext cx="59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</a:t>
            </a:fld>
            <a:endParaRPr/>
          </a:p>
        </p:txBody>
      </p:sp>
      <p:sp>
        <p:nvSpPr>
          <p:cNvPr id="118" name="Google Shape;118;g3f24a6a6617_0_8">
            <a:extLst>
              <a:ext uri="{FF2B5EF4-FFF2-40B4-BE49-F238E27FC236}">
                <a16:creationId xmlns:a16="http://schemas.microsoft.com/office/drawing/2014/main" id="{6FF7F064-FD08-5199-3502-E2E7ABB352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7038" y="1401763"/>
            <a:ext cx="11241300" cy="46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5600" indent="-355600">
              <a:spcBef>
                <a:spcPts val="0"/>
              </a:spcBef>
              <a:buSzPts val="2000"/>
            </a:pPr>
            <a:r>
              <a:rPr lang="en-US" altLang="ko-KR" sz="2000" b="0" dirty="0"/>
              <a:t>Day 01 ) </a:t>
            </a:r>
            <a:r>
              <a:rPr lang="ko-KR" altLang="ko-KR" sz="2000" dirty="0"/>
              <a:t>GitHub → </a:t>
            </a:r>
            <a:r>
              <a:rPr lang="ko-KR" altLang="ko-KR" sz="2000" dirty="0" err="1"/>
              <a:t>CodePipeline</a:t>
            </a:r>
            <a:r>
              <a:rPr lang="ko-KR" altLang="ko-KR" sz="2000" dirty="0"/>
              <a:t> → </a:t>
            </a:r>
            <a:r>
              <a:rPr lang="ko-KR" altLang="ko-KR" sz="2000" dirty="0" err="1"/>
              <a:t>CodeBuild</a:t>
            </a:r>
            <a:endParaRPr lang="ko-KR" altLang="ko-KR" sz="2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  <a:buNone/>
            </a:pPr>
            <a:endParaRPr lang="ko-KR" altLang="en-US" sz="2000" b="0" dirty="0"/>
          </a:p>
        </p:txBody>
      </p:sp>
      <p:sp>
        <p:nvSpPr>
          <p:cNvPr id="119" name="Google Shape;119;g3f24a6a6617_0_8">
            <a:extLst>
              <a:ext uri="{FF2B5EF4-FFF2-40B4-BE49-F238E27FC236}">
                <a16:creationId xmlns:a16="http://schemas.microsoft.com/office/drawing/2014/main" id="{FBD75A39-2A2F-3A0F-FB91-9F1331E3B5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800" y="144035"/>
            <a:ext cx="105156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3000"/>
              <a:buFont typeface="Arial"/>
              <a:buNone/>
            </a:pPr>
            <a:r>
              <a:rPr lang="ko-KR" altLang="en-US" sz="3000" dirty="0"/>
              <a:t>일자별 결과물</a:t>
            </a:r>
            <a:endParaRPr dirty="0"/>
          </a:p>
        </p:txBody>
      </p:sp>
      <p:sp>
        <p:nvSpPr>
          <p:cNvPr id="2" name="Google Shape;118;g3f24a6a6617_0_8">
            <a:extLst>
              <a:ext uri="{FF2B5EF4-FFF2-40B4-BE49-F238E27FC236}">
                <a16:creationId xmlns:a16="http://schemas.microsoft.com/office/drawing/2014/main" id="{07267402-45BC-141D-573F-E8DC4FFA89A1}"/>
              </a:ext>
            </a:extLst>
          </p:cNvPr>
          <p:cNvSpPr txBox="1">
            <a:spLocks/>
          </p:cNvSpPr>
          <p:nvPr/>
        </p:nvSpPr>
        <p:spPr>
          <a:xfrm>
            <a:off x="427038" y="3162983"/>
            <a:ext cx="11241300" cy="46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937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4F55"/>
              </a:buClr>
              <a:buSzPts val="2600"/>
              <a:buFont typeface="Noto Sans Symbols"/>
              <a:buChar char="✔"/>
              <a:defRPr sz="2600" b="1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04F5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04F55"/>
              </a:buClr>
              <a:buSzPts val="1800"/>
              <a:buFont typeface="Malgun Gothic"/>
              <a:buChar char="–"/>
              <a:defRPr sz="1800" b="0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355600" indent="-355600">
              <a:spcBef>
                <a:spcPts val="0"/>
              </a:spcBef>
              <a:buSzPts val="2000"/>
            </a:pPr>
            <a:r>
              <a:rPr lang="en-US" altLang="ko-KR" sz="2000" b="0" dirty="0"/>
              <a:t>Day 02 ) </a:t>
            </a:r>
            <a:r>
              <a:rPr lang="ko-KR" altLang="ko-KR" sz="2000" dirty="0" err="1"/>
              <a:t>CodeBuild</a:t>
            </a:r>
            <a:r>
              <a:rPr lang="ko-KR" altLang="ko-KR" sz="2000" dirty="0"/>
              <a:t> </a:t>
            </a:r>
            <a:r>
              <a:rPr lang="ko-KR" altLang="ko-KR" sz="2000" dirty="0" err="1"/>
              <a:t>Artifact</a:t>
            </a:r>
            <a:r>
              <a:rPr lang="ko-KR" altLang="ko-KR" sz="2000" dirty="0"/>
              <a:t> → </a:t>
            </a:r>
            <a:r>
              <a:rPr lang="ko-KR" altLang="ko-KR" sz="2000" dirty="0" err="1"/>
              <a:t>CodeDeploy</a:t>
            </a:r>
            <a:r>
              <a:rPr lang="ko-KR" altLang="ko-KR" sz="2000" dirty="0"/>
              <a:t> → EC2</a:t>
            </a:r>
          </a:p>
          <a:p>
            <a:pPr marL="0" indent="0">
              <a:spcBef>
                <a:spcPts val="0"/>
              </a:spcBef>
              <a:buSzPts val="2000"/>
              <a:buNone/>
            </a:pPr>
            <a:endParaRPr lang="ko-KR" altLang="en-US" sz="2000" b="0" dirty="0"/>
          </a:p>
        </p:txBody>
      </p:sp>
      <p:sp>
        <p:nvSpPr>
          <p:cNvPr id="4" name="Google Shape;118;g3f24a6a6617_0_8">
            <a:extLst>
              <a:ext uri="{FF2B5EF4-FFF2-40B4-BE49-F238E27FC236}">
                <a16:creationId xmlns:a16="http://schemas.microsoft.com/office/drawing/2014/main" id="{5C9FC5CC-50DE-E651-5412-5D1F5036904D}"/>
              </a:ext>
            </a:extLst>
          </p:cNvPr>
          <p:cNvSpPr txBox="1">
            <a:spLocks/>
          </p:cNvSpPr>
          <p:nvPr/>
        </p:nvSpPr>
        <p:spPr>
          <a:xfrm>
            <a:off x="427038" y="4992624"/>
            <a:ext cx="11241300" cy="46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937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4F55"/>
              </a:buClr>
              <a:buSzPts val="2600"/>
              <a:buFont typeface="Noto Sans Symbols"/>
              <a:buChar char="✔"/>
              <a:defRPr sz="2600" b="1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04F5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04F55"/>
              </a:buClr>
              <a:buSzPts val="1800"/>
              <a:buFont typeface="Malgun Gothic"/>
              <a:buChar char="–"/>
              <a:defRPr sz="1800" b="0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355600" indent="-355600">
              <a:spcBef>
                <a:spcPts val="0"/>
              </a:spcBef>
              <a:buSzPts val="2000"/>
            </a:pPr>
            <a:r>
              <a:rPr lang="en-US" altLang="ko-KR" sz="2000" b="0" dirty="0"/>
              <a:t>Day 03 )</a:t>
            </a:r>
            <a:r>
              <a:rPr lang="ko-KR" altLang="en-US" sz="2000" b="0" dirty="0"/>
              <a:t> </a:t>
            </a:r>
            <a:r>
              <a:rPr lang="ko-KR" altLang="ko-KR" sz="2000" dirty="0"/>
              <a:t>운영 안정성 강화 &amp; 모니터링 구성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08C5972-BF6F-F320-37AA-A4FDA37A8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888" y="1400581"/>
            <a:ext cx="4254062" cy="1585721"/>
          </a:xfrm>
          <a:prstGeom prst="rect">
            <a:avLst/>
          </a:prstGeom>
        </p:spPr>
      </p:pic>
      <p:sp>
        <p:nvSpPr>
          <p:cNvPr id="6" name="Google Shape;118;g3f24a6a6617_0_8">
            <a:extLst>
              <a:ext uri="{FF2B5EF4-FFF2-40B4-BE49-F238E27FC236}">
                <a16:creationId xmlns:a16="http://schemas.microsoft.com/office/drawing/2014/main" id="{9272C3AA-19E1-3F1C-9E3B-57E2F7047950}"/>
              </a:ext>
            </a:extLst>
          </p:cNvPr>
          <p:cNvSpPr txBox="1">
            <a:spLocks/>
          </p:cNvSpPr>
          <p:nvPr/>
        </p:nvSpPr>
        <p:spPr>
          <a:xfrm>
            <a:off x="1856445" y="1816415"/>
            <a:ext cx="4838645" cy="1158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937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4F55"/>
              </a:buClr>
              <a:buSzPts val="2600"/>
              <a:buFont typeface="Noto Sans Symbols"/>
              <a:buChar char="✔"/>
              <a:defRPr sz="2600" b="1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04F5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04F55"/>
              </a:buClr>
              <a:buSzPts val="1800"/>
              <a:buFont typeface="Malgun Gothic"/>
              <a:buChar char="–"/>
              <a:defRPr sz="1800" b="0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spcBef>
                <a:spcPts val="0"/>
              </a:spcBef>
              <a:buSzPts val="2000"/>
              <a:buFont typeface="Noto Sans Symbols"/>
              <a:buNone/>
            </a:pPr>
            <a:r>
              <a:rPr lang="ko-KR" altLang="en-US" sz="1200" b="0" dirty="0">
                <a:latin typeface="+mj-ea"/>
                <a:ea typeface="+mj-ea"/>
              </a:rPr>
              <a:t>도서관리 시스템 </a:t>
            </a:r>
            <a:r>
              <a:rPr lang="en-US" altLang="ko-KR" sz="1200" b="0" dirty="0">
                <a:latin typeface="+mj-ea"/>
                <a:ea typeface="+mj-ea"/>
              </a:rPr>
              <a:t>Backend Repo </a:t>
            </a:r>
            <a:r>
              <a:rPr lang="ko-KR" altLang="en-US" sz="1200" b="0" dirty="0">
                <a:latin typeface="+mj-ea"/>
                <a:ea typeface="+mj-ea"/>
              </a:rPr>
              <a:t>선정</a:t>
            </a:r>
          </a:p>
          <a:p>
            <a:pPr marL="0" indent="0">
              <a:spcBef>
                <a:spcPts val="0"/>
              </a:spcBef>
              <a:buSzPts val="2000"/>
              <a:buFont typeface="Noto Sans Symbols"/>
              <a:buNone/>
            </a:pPr>
            <a:r>
              <a:rPr lang="en-US" altLang="ko-KR" sz="1200" b="0" dirty="0">
                <a:latin typeface="+mj-ea"/>
                <a:ea typeface="+mj-ea"/>
              </a:rPr>
              <a:t>GitHub Repository </a:t>
            </a:r>
            <a:r>
              <a:rPr lang="ko-KR" altLang="en-US" sz="1200" b="0" dirty="0">
                <a:latin typeface="+mj-ea"/>
                <a:ea typeface="+mj-ea"/>
              </a:rPr>
              <a:t>생성 및 코드 연결</a:t>
            </a:r>
          </a:p>
          <a:p>
            <a:pPr marL="0" indent="0">
              <a:spcBef>
                <a:spcPts val="0"/>
              </a:spcBef>
              <a:buSzPts val="2000"/>
              <a:buFont typeface="Noto Sans Symbols"/>
              <a:buNone/>
            </a:pPr>
            <a:r>
              <a:rPr lang="en-US" altLang="ko-KR" sz="1200" b="0" dirty="0" err="1">
                <a:latin typeface="+mj-ea"/>
                <a:ea typeface="+mj-ea"/>
              </a:rPr>
              <a:t>CodePipeline</a:t>
            </a:r>
            <a:r>
              <a:rPr lang="en-US" altLang="ko-KR" sz="1200" b="0" dirty="0">
                <a:latin typeface="+mj-ea"/>
                <a:ea typeface="+mj-ea"/>
              </a:rPr>
              <a:t> Source Stage </a:t>
            </a:r>
            <a:r>
              <a:rPr lang="ko-KR" altLang="en-US" sz="1200" b="0" dirty="0">
                <a:latin typeface="+mj-ea"/>
                <a:ea typeface="+mj-ea"/>
              </a:rPr>
              <a:t>구성</a:t>
            </a:r>
          </a:p>
          <a:p>
            <a:pPr marL="0" indent="0">
              <a:spcBef>
                <a:spcPts val="0"/>
              </a:spcBef>
              <a:buSzPts val="2000"/>
              <a:buFont typeface="Noto Sans Symbols"/>
              <a:buNone/>
            </a:pPr>
            <a:r>
              <a:rPr lang="en-US" altLang="ko-KR" sz="1200" b="0" dirty="0" err="1">
                <a:latin typeface="+mj-ea"/>
                <a:ea typeface="+mj-ea"/>
              </a:rPr>
              <a:t>CodeBuild</a:t>
            </a:r>
            <a:r>
              <a:rPr lang="ko-KR" altLang="en-US" sz="1200" b="0" dirty="0" err="1">
                <a:latin typeface="+mj-ea"/>
                <a:ea typeface="+mj-ea"/>
              </a:rPr>
              <a:t>를</a:t>
            </a:r>
            <a:r>
              <a:rPr lang="ko-KR" altLang="en-US" sz="1200" b="0" dirty="0">
                <a:latin typeface="+mj-ea"/>
                <a:ea typeface="+mj-ea"/>
              </a:rPr>
              <a:t> 통한 테스트 및 빌드 자동화</a:t>
            </a:r>
          </a:p>
          <a:p>
            <a:pPr marL="0" indent="0">
              <a:spcBef>
                <a:spcPts val="0"/>
              </a:spcBef>
              <a:buSzPts val="2000"/>
              <a:buFont typeface="Noto Sans Symbols"/>
              <a:buNone/>
            </a:pPr>
            <a:r>
              <a:rPr lang="en-US" altLang="ko-KR" sz="1200" b="0" dirty="0">
                <a:latin typeface="+mj-ea"/>
                <a:ea typeface="+mj-ea"/>
              </a:rPr>
              <a:t>unit-test-</a:t>
            </a:r>
            <a:r>
              <a:rPr lang="en-US" altLang="ko-KR" sz="1200" b="0" dirty="0" err="1">
                <a:latin typeface="+mj-ea"/>
                <a:ea typeface="+mj-ea"/>
              </a:rPr>
              <a:t>buildspec.yml</a:t>
            </a:r>
            <a:r>
              <a:rPr lang="ko-KR" altLang="en-US" sz="1200" b="0" dirty="0">
                <a:latin typeface="+mj-ea"/>
                <a:ea typeface="+mj-ea"/>
              </a:rPr>
              <a:t>로 단위 테스트 실행</a:t>
            </a:r>
          </a:p>
          <a:p>
            <a:pPr marL="0" indent="0">
              <a:spcBef>
                <a:spcPts val="0"/>
              </a:spcBef>
              <a:buSzPts val="2000"/>
              <a:buFont typeface="Noto Sans Symbols"/>
              <a:buNone/>
            </a:pPr>
            <a:r>
              <a:rPr lang="en-US" altLang="ko-KR" sz="1200" b="0" dirty="0" err="1">
                <a:latin typeface="+mj-ea"/>
                <a:ea typeface="+mj-ea"/>
              </a:rPr>
              <a:t>buildspec.yml</a:t>
            </a:r>
            <a:r>
              <a:rPr lang="ko-KR" altLang="en-US" sz="1200" b="0" dirty="0">
                <a:latin typeface="+mj-ea"/>
                <a:ea typeface="+mj-ea"/>
              </a:rPr>
              <a:t>로 배포용 </a:t>
            </a:r>
            <a:r>
              <a:rPr lang="en-US" altLang="ko-KR" sz="1200" b="0" dirty="0">
                <a:latin typeface="+mj-ea"/>
                <a:ea typeface="+mj-ea"/>
              </a:rPr>
              <a:t>artifact </a:t>
            </a:r>
            <a:r>
              <a:rPr lang="ko-KR" altLang="en-US" sz="1200" b="0" dirty="0">
                <a:latin typeface="+mj-ea"/>
                <a:ea typeface="+mj-ea"/>
              </a:rPr>
              <a:t>생성</a:t>
            </a:r>
          </a:p>
        </p:txBody>
      </p:sp>
      <p:sp>
        <p:nvSpPr>
          <p:cNvPr id="9" name="Google Shape;118;g3f24a6a6617_0_8">
            <a:extLst>
              <a:ext uri="{FF2B5EF4-FFF2-40B4-BE49-F238E27FC236}">
                <a16:creationId xmlns:a16="http://schemas.microsoft.com/office/drawing/2014/main" id="{7FF5F4E8-7501-A16C-F986-5CEFBDBC60F3}"/>
              </a:ext>
            </a:extLst>
          </p:cNvPr>
          <p:cNvSpPr txBox="1">
            <a:spLocks/>
          </p:cNvSpPr>
          <p:nvPr/>
        </p:nvSpPr>
        <p:spPr>
          <a:xfrm>
            <a:off x="1856445" y="3599868"/>
            <a:ext cx="4838645" cy="1424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937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4F55"/>
              </a:buClr>
              <a:buSzPts val="2600"/>
              <a:buFont typeface="Noto Sans Symbols"/>
              <a:buChar char="✔"/>
              <a:defRPr sz="2600" b="1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04F5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04F55"/>
              </a:buClr>
              <a:buSzPts val="1800"/>
              <a:buFont typeface="Malgun Gothic"/>
              <a:buChar char="–"/>
              <a:defRPr sz="1800" b="0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spcBef>
                <a:spcPts val="0"/>
              </a:spcBef>
              <a:buSzPts val="2000"/>
              <a:buFont typeface="Noto Sans Symbols"/>
              <a:buNone/>
            </a:pPr>
            <a:r>
              <a:rPr lang="ko-KR" altLang="en-US" sz="1200" b="0" dirty="0">
                <a:latin typeface="+mj-ea"/>
                <a:ea typeface="+mj-ea"/>
              </a:rPr>
              <a:t>배포 방식 및 배포 전략 논의</a:t>
            </a:r>
          </a:p>
          <a:p>
            <a:pPr marL="0" indent="0">
              <a:spcBef>
                <a:spcPts val="0"/>
              </a:spcBef>
              <a:buSzPts val="2000"/>
              <a:buFont typeface="Noto Sans Symbols"/>
              <a:buNone/>
            </a:pPr>
            <a:r>
              <a:rPr lang="en-US" altLang="ko-KR" sz="1200" b="0" dirty="0">
                <a:latin typeface="+mj-ea"/>
                <a:ea typeface="+mj-ea"/>
              </a:rPr>
              <a:t>EC2 </a:t>
            </a:r>
            <a:r>
              <a:rPr lang="ko-KR" altLang="en-US" sz="1200" b="0" dirty="0">
                <a:latin typeface="+mj-ea"/>
                <a:ea typeface="+mj-ea"/>
              </a:rPr>
              <a:t>배포 환경 구성</a:t>
            </a:r>
          </a:p>
          <a:p>
            <a:pPr marL="0" indent="0">
              <a:spcBef>
                <a:spcPts val="0"/>
              </a:spcBef>
              <a:buSzPts val="2000"/>
              <a:buFont typeface="Noto Sans Symbols"/>
              <a:buNone/>
            </a:pPr>
            <a:r>
              <a:rPr lang="en-US" altLang="ko-KR" sz="1200" b="0" dirty="0" err="1">
                <a:latin typeface="+mj-ea"/>
                <a:ea typeface="+mj-ea"/>
              </a:rPr>
              <a:t>CodeDeploy</a:t>
            </a:r>
            <a:r>
              <a:rPr lang="en-US" altLang="ko-KR" sz="1200" b="0" dirty="0">
                <a:latin typeface="+mj-ea"/>
                <a:ea typeface="+mj-ea"/>
              </a:rPr>
              <a:t> Application / Deployment Group </a:t>
            </a:r>
            <a:r>
              <a:rPr lang="ko-KR" altLang="en-US" sz="1200" b="0" dirty="0">
                <a:latin typeface="+mj-ea"/>
                <a:ea typeface="+mj-ea"/>
              </a:rPr>
              <a:t>생성</a:t>
            </a:r>
          </a:p>
          <a:p>
            <a:pPr marL="0" indent="0">
              <a:spcBef>
                <a:spcPts val="0"/>
              </a:spcBef>
              <a:buSzPts val="2000"/>
              <a:buFont typeface="Noto Sans Symbols"/>
              <a:buNone/>
            </a:pPr>
            <a:r>
              <a:rPr lang="en-US" altLang="ko-KR" sz="1200" b="0" dirty="0" err="1">
                <a:latin typeface="+mj-ea"/>
                <a:ea typeface="+mj-ea"/>
              </a:rPr>
              <a:t>appspec.yml</a:t>
            </a:r>
            <a:r>
              <a:rPr lang="en-US" altLang="ko-KR" sz="1200" b="0" dirty="0">
                <a:latin typeface="+mj-ea"/>
                <a:ea typeface="+mj-ea"/>
              </a:rPr>
              <a:t> </a:t>
            </a:r>
            <a:r>
              <a:rPr lang="ko-KR" altLang="en-US" sz="1200" b="0" dirty="0">
                <a:latin typeface="+mj-ea"/>
                <a:ea typeface="+mj-ea"/>
              </a:rPr>
              <a:t>작성</a:t>
            </a:r>
          </a:p>
          <a:p>
            <a:pPr marL="0" indent="0">
              <a:spcBef>
                <a:spcPts val="0"/>
              </a:spcBef>
              <a:buSzPts val="2000"/>
              <a:buFont typeface="Noto Sans Symbols"/>
              <a:buNone/>
            </a:pPr>
            <a:r>
              <a:rPr lang="en-US" altLang="ko-KR" sz="1200" b="0" dirty="0" err="1">
                <a:latin typeface="+mj-ea"/>
                <a:ea typeface="+mj-ea"/>
              </a:rPr>
              <a:t>stop.sh</a:t>
            </a:r>
            <a:r>
              <a:rPr lang="en-US" altLang="ko-KR" sz="1200" b="0" dirty="0">
                <a:latin typeface="+mj-ea"/>
                <a:ea typeface="+mj-ea"/>
              </a:rPr>
              <a:t>, </a:t>
            </a:r>
            <a:r>
              <a:rPr lang="en-US" altLang="ko-KR" sz="1200" b="0" dirty="0" err="1">
                <a:latin typeface="+mj-ea"/>
                <a:ea typeface="+mj-ea"/>
              </a:rPr>
              <a:t>prepare.sh</a:t>
            </a:r>
            <a:r>
              <a:rPr lang="en-US" altLang="ko-KR" sz="1200" b="0" dirty="0">
                <a:latin typeface="+mj-ea"/>
                <a:ea typeface="+mj-ea"/>
              </a:rPr>
              <a:t>, </a:t>
            </a:r>
            <a:r>
              <a:rPr lang="en-US" altLang="ko-KR" sz="1200" b="0" dirty="0" err="1">
                <a:latin typeface="+mj-ea"/>
                <a:ea typeface="+mj-ea"/>
              </a:rPr>
              <a:t>start.sh</a:t>
            </a:r>
            <a:r>
              <a:rPr lang="en-US" altLang="ko-KR" sz="1200" b="0" dirty="0">
                <a:latin typeface="+mj-ea"/>
                <a:ea typeface="+mj-ea"/>
              </a:rPr>
              <a:t>, </a:t>
            </a:r>
            <a:r>
              <a:rPr lang="en-US" altLang="ko-KR" sz="1200" b="0" dirty="0" err="1">
                <a:latin typeface="+mj-ea"/>
                <a:ea typeface="+mj-ea"/>
              </a:rPr>
              <a:t>validate.sh</a:t>
            </a:r>
            <a:r>
              <a:rPr lang="en-US" altLang="ko-KR" sz="1200" b="0" dirty="0">
                <a:latin typeface="+mj-ea"/>
                <a:ea typeface="+mj-ea"/>
              </a:rPr>
              <a:t> </a:t>
            </a:r>
            <a:r>
              <a:rPr lang="ko-KR" altLang="en-US" sz="1200" b="0" dirty="0">
                <a:latin typeface="+mj-ea"/>
                <a:ea typeface="+mj-ea"/>
              </a:rPr>
              <a:t>작성</a:t>
            </a:r>
          </a:p>
          <a:p>
            <a:pPr marL="0" indent="0">
              <a:spcBef>
                <a:spcPts val="0"/>
              </a:spcBef>
              <a:buSzPts val="2000"/>
              <a:buFont typeface="Noto Sans Symbols"/>
              <a:buNone/>
            </a:pPr>
            <a:r>
              <a:rPr lang="en-US" altLang="ko-KR" sz="1200" b="0" dirty="0">
                <a:latin typeface="+mj-ea"/>
                <a:ea typeface="+mj-ea"/>
              </a:rPr>
              <a:t>EC2 /home/ec2-user/app </a:t>
            </a:r>
            <a:r>
              <a:rPr lang="ko-KR" altLang="en-US" sz="1200" b="0" dirty="0">
                <a:latin typeface="+mj-ea"/>
                <a:ea typeface="+mj-ea"/>
              </a:rPr>
              <a:t>경로 배포 확인</a:t>
            </a:r>
          </a:p>
          <a:p>
            <a:pPr marL="0" indent="0">
              <a:spcBef>
                <a:spcPts val="0"/>
              </a:spcBef>
              <a:buSzPts val="2000"/>
              <a:buFont typeface="Noto Sans Symbols"/>
              <a:buNone/>
            </a:pPr>
            <a:r>
              <a:rPr lang="en-US" altLang="ko-KR" sz="1200" b="0" dirty="0">
                <a:latin typeface="+mj-ea"/>
                <a:ea typeface="+mj-ea"/>
              </a:rPr>
              <a:t>Spring Boot </a:t>
            </a:r>
            <a:r>
              <a:rPr lang="ko-KR" altLang="en-US" sz="1200" b="0" dirty="0">
                <a:latin typeface="+mj-ea"/>
                <a:ea typeface="+mj-ea"/>
              </a:rPr>
              <a:t>서버 실행 및 </a:t>
            </a:r>
            <a:r>
              <a:rPr lang="en-US" altLang="ko-KR" sz="1200" b="0" dirty="0">
                <a:latin typeface="+mj-ea"/>
                <a:ea typeface="+mj-ea"/>
              </a:rPr>
              <a:t>Health Check </a:t>
            </a:r>
            <a:r>
              <a:rPr lang="ko-KR" altLang="en-US" sz="1200" b="0" dirty="0">
                <a:latin typeface="+mj-ea"/>
                <a:ea typeface="+mj-ea"/>
              </a:rPr>
              <a:t>확인</a:t>
            </a:r>
          </a:p>
        </p:txBody>
      </p:sp>
      <p:sp>
        <p:nvSpPr>
          <p:cNvPr id="13" name="Google Shape;118;g3f24a6a6617_0_8">
            <a:extLst>
              <a:ext uri="{FF2B5EF4-FFF2-40B4-BE49-F238E27FC236}">
                <a16:creationId xmlns:a16="http://schemas.microsoft.com/office/drawing/2014/main" id="{F0D6533B-0B9D-77EE-AF7F-67DBA5F9325A}"/>
              </a:ext>
            </a:extLst>
          </p:cNvPr>
          <p:cNvSpPr txBox="1">
            <a:spLocks/>
          </p:cNvSpPr>
          <p:nvPr/>
        </p:nvSpPr>
        <p:spPr>
          <a:xfrm>
            <a:off x="1856445" y="5373063"/>
            <a:ext cx="4838645" cy="120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937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4F55"/>
              </a:buClr>
              <a:buSzPts val="2600"/>
              <a:buFont typeface="Noto Sans Symbols"/>
              <a:buChar char="✔"/>
              <a:defRPr sz="2600" b="1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04F5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04F55"/>
              </a:buClr>
              <a:buSzPts val="1800"/>
              <a:buFont typeface="Malgun Gothic"/>
              <a:buChar char="–"/>
              <a:defRPr sz="1800" b="0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spcBef>
                <a:spcPts val="0"/>
              </a:spcBef>
              <a:buSzPts val="2000"/>
              <a:buNone/>
            </a:pPr>
            <a:r>
              <a:rPr lang="en-US" altLang="ko-KR" sz="1200" b="0" dirty="0">
                <a:latin typeface="+mj-ea"/>
                <a:ea typeface="+mj-ea"/>
              </a:rPr>
              <a:t>ALB </a:t>
            </a:r>
            <a:r>
              <a:rPr lang="ko-KR" altLang="en-US" sz="1200" b="0" dirty="0">
                <a:latin typeface="+mj-ea"/>
                <a:ea typeface="+mj-ea"/>
              </a:rPr>
              <a:t>구성 및 </a:t>
            </a:r>
            <a:r>
              <a:rPr lang="en-US" altLang="ko-KR" sz="1200" b="0" dirty="0">
                <a:latin typeface="+mj-ea"/>
                <a:ea typeface="+mj-ea"/>
              </a:rPr>
              <a:t>Target Group Health Check </a:t>
            </a:r>
            <a:r>
              <a:rPr lang="ko-KR" altLang="en-US" sz="1200" b="0" dirty="0">
                <a:latin typeface="+mj-ea"/>
                <a:ea typeface="+mj-ea"/>
              </a:rPr>
              <a:t>설정</a:t>
            </a:r>
          </a:p>
          <a:p>
            <a:pPr marL="0" indent="0">
              <a:spcBef>
                <a:spcPts val="0"/>
              </a:spcBef>
              <a:buSzPts val="2000"/>
              <a:buNone/>
            </a:pPr>
            <a:r>
              <a:rPr lang="en-US" altLang="ko-KR" sz="1200" b="0" dirty="0">
                <a:latin typeface="+mj-ea"/>
                <a:ea typeface="+mj-ea"/>
              </a:rPr>
              <a:t>Auto Scaling Group </a:t>
            </a:r>
            <a:r>
              <a:rPr lang="ko-KR" altLang="en-US" sz="1200" b="0" dirty="0">
                <a:latin typeface="+mj-ea"/>
                <a:ea typeface="+mj-ea"/>
              </a:rPr>
              <a:t>배포 단계 추가</a:t>
            </a:r>
          </a:p>
          <a:p>
            <a:pPr marL="0" indent="0">
              <a:spcBef>
                <a:spcPts val="0"/>
              </a:spcBef>
              <a:buSzPts val="2000"/>
              <a:buNone/>
            </a:pPr>
            <a:r>
              <a:rPr lang="en-US" altLang="ko-KR" sz="1200" b="0" dirty="0">
                <a:latin typeface="+mj-ea"/>
                <a:ea typeface="+mj-ea"/>
              </a:rPr>
              <a:t>CloudWatch Logs</a:t>
            </a:r>
            <a:r>
              <a:rPr lang="ko-KR" altLang="en-US" sz="1200" b="0" dirty="0">
                <a:latin typeface="+mj-ea"/>
                <a:ea typeface="+mj-ea"/>
              </a:rPr>
              <a:t>로 </a:t>
            </a:r>
            <a:r>
              <a:rPr lang="en-US" altLang="ko-KR" sz="1200" b="0" dirty="0" err="1">
                <a:latin typeface="+mj-ea"/>
                <a:ea typeface="+mj-ea"/>
              </a:rPr>
              <a:t>CodeBuild</a:t>
            </a:r>
            <a:r>
              <a:rPr lang="en-US" altLang="ko-KR" sz="1200" b="0" dirty="0">
                <a:latin typeface="+mj-ea"/>
                <a:ea typeface="+mj-ea"/>
              </a:rPr>
              <a:t> /</a:t>
            </a:r>
            <a:r>
              <a:rPr lang="ko-KR" altLang="en-US" sz="1200" b="0" dirty="0">
                <a:latin typeface="+mj-ea"/>
                <a:ea typeface="+mj-ea"/>
              </a:rPr>
              <a:t> </a:t>
            </a:r>
            <a:r>
              <a:rPr lang="en-US" altLang="ko-KR" sz="1200" b="0" dirty="0">
                <a:latin typeface="+mj-ea"/>
                <a:ea typeface="+mj-ea"/>
              </a:rPr>
              <a:t>SNS </a:t>
            </a:r>
            <a:r>
              <a:rPr lang="ko-KR" altLang="en-US" sz="1200" b="0" dirty="0">
                <a:latin typeface="+mj-ea"/>
                <a:ea typeface="+mj-ea"/>
              </a:rPr>
              <a:t>이메일 구독 생성</a:t>
            </a:r>
          </a:p>
          <a:p>
            <a:pPr marL="0" indent="0">
              <a:spcBef>
                <a:spcPts val="0"/>
              </a:spcBef>
              <a:buSzPts val="2000"/>
              <a:buNone/>
            </a:pPr>
            <a:r>
              <a:rPr lang="en-US" altLang="ko-KR" sz="1200" b="0" dirty="0" err="1">
                <a:latin typeface="+mj-ea"/>
                <a:ea typeface="+mj-ea"/>
              </a:rPr>
              <a:t>CodePipeline</a:t>
            </a:r>
            <a:r>
              <a:rPr lang="en-US" altLang="ko-KR" sz="1200" b="0" dirty="0">
                <a:latin typeface="+mj-ea"/>
                <a:ea typeface="+mj-ea"/>
              </a:rPr>
              <a:t> </a:t>
            </a:r>
            <a:r>
              <a:rPr lang="ko-KR" altLang="en-US" sz="1200" b="0" dirty="0">
                <a:latin typeface="+mj-ea"/>
                <a:ea typeface="+mj-ea"/>
              </a:rPr>
              <a:t>수동 승인 단계 추가</a:t>
            </a:r>
          </a:p>
          <a:p>
            <a:pPr marL="0" indent="0">
              <a:spcBef>
                <a:spcPts val="0"/>
              </a:spcBef>
              <a:buSzPts val="2000"/>
              <a:buNone/>
            </a:pPr>
            <a:r>
              <a:rPr lang="ko-KR" altLang="en-US" sz="1200" b="0" dirty="0">
                <a:latin typeface="+mj-ea"/>
                <a:ea typeface="+mj-ea"/>
              </a:rPr>
              <a:t>트러블슈팅</a:t>
            </a:r>
            <a:r>
              <a:rPr lang="en-US" altLang="ko-KR" sz="1200" b="0" dirty="0">
                <a:latin typeface="+mj-ea"/>
                <a:ea typeface="+mj-ea"/>
              </a:rPr>
              <a:t>: </a:t>
            </a:r>
          </a:p>
          <a:p>
            <a:pPr marL="0" indent="0">
              <a:spcBef>
                <a:spcPts val="0"/>
              </a:spcBef>
              <a:buSzPts val="2000"/>
              <a:buNone/>
            </a:pPr>
            <a:r>
              <a:rPr lang="en-US" altLang="ko-KR" sz="1200" b="0" dirty="0">
                <a:latin typeface="+mj-ea"/>
                <a:ea typeface="+mj-ea"/>
              </a:rPr>
              <a:t>H2 DB </a:t>
            </a:r>
            <a:r>
              <a:rPr lang="ko-KR" altLang="en-US" sz="1200" b="0" dirty="0">
                <a:latin typeface="+mj-ea"/>
                <a:ea typeface="+mj-ea"/>
              </a:rPr>
              <a:t>권한 문제 → 서버 실행 실패 → </a:t>
            </a:r>
            <a:r>
              <a:rPr lang="en-US" altLang="ko-KR" sz="1200" b="0" dirty="0">
                <a:latin typeface="+mj-ea"/>
                <a:ea typeface="+mj-ea"/>
              </a:rPr>
              <a:t>502 Bad Gateway </a:t>
            </a:r>
            <a:r>
              <a:rPr lang="ko-KR" altLang="en-US" sz="1200" b="0" dirty="0">
                <a:latin typeface="+mj-ea"/>
                <a:ea typeface="+mj-ea"/>
              </a:rPr>
              <a:t>해결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9CA5595-F46F-30E8-A307-BA88D573F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588" t="556" b="25119"/>
          <a:stretch>
            <a:fillRect/>
          </a:stretch>
        </p:blipFill>
        <p:spPr>
          <a:xfrm>
            <a:off x="7215888" y="3313839"/>
            <a:ext cx="4689463" cy="171010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E4D5115-C70C-5A2C-05C6-A89003869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8829" t="30452" r="24855"/>
          <a:stretch>
            <a:fillRect/>
          </a:stretch>
        </p:blipFill>
        <p:spPr>
          <a:xfrm>
            <a:off x="7215888" y="5168449"/>
            <a:ext cx="2785247" cy="154551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0995B95-461E-0785-D300-30E484553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880" t="75253" r="50274" b="9193"/>
          <a:stretch>
            <a:fillRect/>
          </a:stretch>
        </p:blipFill>
        <p:spPr>
          <a:xfrm>
            <a:off x="9335994" y="5792439"/>
            <a:ext cx="2569357" cy="7836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6852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C7F21112-76EF-5A4B-BB32-5AD9C3BB9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24a6a6617_0_8">
            <a:extLst>
              <a:ext uri="{FF2B5EF4-FFF2-40B4-BE49-F238E27FC236}">
                <a16:creationId xmlns:a16="http://schemas.microsoft.com/office/drawing/2014/main" id="{73D1228E-4C85-A11C-5A09-AD18A793A8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69950" y="6492875"/>
            <a:ext cx="59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+mj-ea"/>
                <a:ea typeface="+mj-ea"/>
              </a:rPr>
              <a:t>4</a:t>
            </a:fld>
            <a:endParaRPr>
              <a:latin typeface="+mj-ea"/>
              <a:ea typeface="+mj-ea"/>
            </a:endParaRPr>
          </a:p>
        </p:txBody>
      </p:sp>
      <p:sp>
        <p:nvSpPr>
          <p:cNvPr id="118" name="Google Shape;118;g3f24a6a6617_0_8">
            <a:extLst>
              <a:ext uri="{FF2B5EF4-FFF2-40B4-BE49-F238E27FC236}">
                <a16:creationId xmlns:a16="http://schemas.microsoft.com/office/drawing/2014/main" id="{F28AC747-FF4B-7860-240F-212EA55E8C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7038" y="1401763"/>
            <a:ext cx="11241300" cy="46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5600" indent="-355600">
              <a:spcBef>
                <a:spcPts val="0"/>
              </a:spcBef>
              <a:buSzPts val="2000"/>
            </a:pPr>
            <a:r>
              <a:rPr lang="en-US" altLang="ko-KR" sz="2000" dirty="0"/>
              <a:t>Rolling(In – place) </a:t>
            </a:r>
            <a:r>
              <a:rPr lang="ko-KR" altLang="en-US" sz="2000" dirty="0"/>
              <a:t>배포</a:t>
            </a:r>
            <a:endParaRPr lang="ko-KR" altLang="ko-KR" sz="2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  <a:buNone/>
            </a:pPr>
            <a:endParaRPr lang="ko-KR" altLang="en-US" sz="2000" b="0" dirty="0"/>
          </a:p>
        </p:txBody>
      </p:sp>
      <p:sp>
        <p:nvSpPr>
          <p:cNvPr id="119" name="Google Shape;119;g3f24a6a6617_0_8">
            <a:extLst>
              <a:ext uri="{FF2B5EF4-FFF2-40B4-BE49-F238E27FC236}">
                <a16:creationId xmlns:a16="http://schemas.microsoft.com/office/drawing/2014/main" id="{A99118C0-E983-08A4-9F6C-BB3772126B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800" y="144035"/>
            <a:ext cx="105156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3000"/>
              <a:buFont typeface="Arial"/>
              <a:buNone/>
            </a:pPr>
            <a:r>
              <a:rPr lang="ko-KR" altLang="en-US" sz="3000" dirty="0"/>
              <a:t>배포 전략</a:t>
            </a:r>
            <a:endParaRPr dirty="0"/>
          </a:p>
        </p:txBody>
      </p:sp>
      <p:sp>
        <p:nvSpPr>
          <p:cNvPr id="6" name="Google Shape;118;g3f24a6a6617_0_8">
            <a:extLst>
              <a:ext uri="{FF2B5EF4-FFF2-40B4-BE49-F238E27FC236}">
                <a16:creationId xmlns:a16="http://schemas.microsoft.com/office/drawing/2014/main" id="{F0EF3228-5B27-9FEC-3432-10539AC20292}"/>
              </a:ext>
            </a:extLst>
          </p:cNvPr>
          <p:cNvSpPr txBox="1">
            <a:spLocks/>
          </p:cNvSpPr>
          <p:nvPr/>
        </p:nvSpPr>
        <p:spPr>
          <a:xfrm>
            <a:off x="4822216" y="2511059"/>
            <a:ext cx="6087872" cy="1589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937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4F55"/>
              </a:buClr>
              <a:buSzPts val="2600"/>
              <a:buFont typeface="Noto Sans Symbols"/>
              <a:buChar char="✔"/>
              <a:defRPr sz="2600" b="1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04F5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04F55"/>
              </a:buClr>
              <a:buSzPts val="1800"/>
              <a:buFont typeface="Malgun Gothic"/>
              <a:buChar char="–"/>
              <a:defRPr sz="1800" b="0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spcBef>
                <a:spcPts val="0"/>
              </a:spcBef>
              <a:buSzPts val="2000"/>
              <a:buNone/>
            </a:pPr>
            <a:r>
              <a:rPr lang="ko-KR" altLang="en-US" sz="1400" dirty="0">
                <a:latin typeface="+mj-ea"/>
                <a:ea typeface="+mj-ea"/>
              </a:rPr>
              <a:t>배포 전략</a:t>
            </a:r>
          </a:p>
          <a:p>
            <a:pPr marL="0" indent="0">
              <a:spcBef>
                <a:spcPts val="0"/>
              </a:spcBef>
              <a:buSzPts val="2000"/>
              <a:buNone/>
            </a:pPr>
            <a:r>
              <a:rPr lang="en-US" altLang="ko-KR" sz="1400" b="0" dirty="0">
                <a:latin typeface="+mj-ea"/>
                <a:ea typeface="+mj-ea"/>
              </a:rPr>
              <a:t>- </a:t>
            </a:r>
            <a:r>
              <a:rPr lang="en-US" altLang="ko-KR" sz="1400" b="0" dirty="0" err="1">
                <a:latin typeface="+mj-ea"/>
                <a:ea typeface="+mj-ea"/>
              </a:rPr>
              <a:t>CodeDeploy</a:t>
            </a:r>
            <a:r>
              <a:rPr lang="en-US" altLang="ko-KR" sz="1400" b="0" dirty="0">
                <a:latin typeface="+mj-ea"/>
                <a:ea typeface="+mj-ea"/>
              </a:rPr>
              <a:t> </a:t>
            </a:r>
            <a:r>
              <a:rPr lang="ko-KR" altLang="en-US" sz="1400" b="0" dirty="0">
                <a:latin typeface="+mj-ea"/>
                <a:ea typeface="+mj-ea"/>
              </a:rPr>
              <a:t>기반 </a:t>
            </a:r>
            <a:r>
              <a:rPr lang="en-US" altLang="ko-KR" sz="1400" b="0" dirty="0">
                <a:latin typeface="+mj-ea"/>
                <a:ea typeface="+mj-ea"/>
              </a:rPr>
              <a:t>In-place </a:t>
            </a:r>
            <a:r>
              <a:rPr lang="ko-KR" altLang="en-US" sz="1400" b="0" dirty="0">
                <a:latin typeface="+mj-ea"/>
                <a:ea typeface="+mj-ea"/>
              </a:rPr>
              <a:t>배포 방식 적용</a:t>
            </a:r>
          </a:p>
          <a:p>
            <a:pPr marL="0" indent="0">
              <a:spcBef>
                <a:spcPts val="0"/>
              </a:spcBef>
              <a:buSzPts val="2000"/>
              <a:buNone/>
            </a:pPr>
            <a:r>
              <a:rPr lang="en-US" altLang="ko-KR" sz="1400" b="0" dirty="0">
                <a:latin typeface="+mj-ea"/>
                <a:ea typeface="+mj-ea"/>
              </a:rPr>
              <a:t>- </a:t>
            </a:r>
            <a:r>
              <a:rPr lang="ko-KR" altLang="en-US" sz="1400" b="0" dirty="0">
                <a:latin typeface="+mj-ea"/>
                <a:ea typeface="+mj-ea"/>
              </a:rPr>
              <a:t>배포 구성</a:t>
            </a:r>
            <a:r>
              <a:rPr lang="en-US" altLang="ko-KR" sz="1400" b="0" dirty="0">
                <a:latin typeface="+mj-ea"/>
                <a:ea typeface="+mj-ea"/>
              </a:rPr>
              <a:t>: </a:t>
            </a:r>
            <a:r>
              <a:rPr lang="en-US" altLang="ko-KR" sz="1400" u="sng" dirty="0" err="1">
                <a:latin typeface="+mj-ea"/>
                <a:ea typeface="+mj-ea"/>
              </a:rPr>
              <a:t>CodeDeployDefault.AllAtOnce</a:t>
            </a:r>
            <a:endParaRPr lang="en-US" altLang="ko-KR" sz="1400" u="sng" dirty="0">
              <a:latin typeface="+mj-ea"/>
              <a:ea typeface="+mj-ea"/>
            </a:endParaRPr>
          </a:p>
          <a:p>
            <a:pPr marL="0" indent="0">
              <a:spcBef>
                <a:spcPts val="0"/>
              </a:spcBef>
              <a:buSzPts val="2000"/>
              <a:buNone/>
            </a:pPr>
            <a:r>
              <a:rPr lang="en-US" altLang="ko-KR" sz="1400" b="0" dirty="0">
                <a:latin typeface="+mj-ea"/>
                <a:ea typeface="+mj-ea"/>
              </a:rPr>
              <a:t>- </a:t>
            </a:r>
            <a:r>
              <a:rPr lang="ko-KR" altLang="en-US" sz="1400" b="0" dirty="0">
                <a:latin typeface="+mj-ea"/>
                <a:ea typeface="+mj-ea"/>
              </a:rPr>
              <a:t>대상 인스턴스에 새 </a:t>
            </a:r>
            <a:r>
              <a:rPr lang="en-US" altLang="ko-KR" sz="1400" b="0" dirty="0">
                <a:latin typeface="+mj-ea"/>
                <a:ea typeface="+mj-ea"/>
              </a:rPr>
              <a:t>artifact</a:t>
            </a:r>
            <a:r>
              <a:rPr lang="ko-KR" altLang="en-US" sz="1400" b="0" dirty="0" err="1">
                <a:latin typeface="+mj-ea"/>
                <a:ea typeface="+mj-ea"/>
              </a:rPr>
              <a:t>를</a:t>
            </a:r>
            <a:r>
              <a:rPr lang="ko-KR" altLang="en-US" sz="1400" b="0" dirty="0">
                <a:latin typeface="+mj-ea"/>
                <a:ea typeface="+mj-ea"/>
              </a:rPr>
              <a:t> 한 번에 반영</a:t>
            </a:r>
            <a:endParaRPr lang="en-US" altLang="ko-KR" sz="1400" b="0" dirty="0">
              <a:latin typeface="+mj-ea"/>
              <a:ea typeface="+mj-ea"/>
            </a:endParaRPr>
          </a:p>
          <a:p>
            <a:pPr marL="0" indent="0">
              <a:spcBef>
                <a:spcPts val="0"/>
              </a:spcBef>
              <a:buSzPts val="2000"/>
              <a:buNone/>
            </a:pPr>
            <a:r>
              <a:rPr lang="en-US" altLang="ko-KR" sz="1400" b="0" dirty="0">
                <a:latin typeface="+mj-ea"/>
                <a:ea typeface="+mj-ea"/>
              </a:rPr>
              <a:t>-</a:t>
            </a:r>
            <a:r>
              <a:rPr lang="ko-KR" altLang="en-US" sz="1400" b="0" dirty="0">
                <a:latin typeface="+mj-ea"/>
                <a:ea typeface="+mj-ea"/>
              </a:rPr>
              <a:t> 배포 후 </a:t>
            </a:r>
            <a:r>
              <a:rPr lang="en-US" altLang="ko-KR" sz="1400" b="0" dirty="0">
                <a:latin typeface="+mj-ea"/>
                <a:ea typeface="+mj-ea"/>
              </a:rPr>
              <a:t>Health Check</a:t>
            </a:r>
            <a:r>
              <a:rPr lang="ko-KR" altLang="en-US" sz="1400" b="0" dirty="0">
                <a:latin typeface="+mj-ea"/>
                <a:ea typeface="+mj-ea"/>
              </a:rPr>
              <a:t>로 정상 동작 확인</a:t>
            </a:r>
            <a:endParaRPr lang="en-US" altLang="ko-KR" sz="1400" b="0" dirty="0">
              <a:latin typeface="+mj-ea"/>
              <a:ea typeface="+mj-ea"/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CB96AF3E-54EB-8851-2DE8-E9293AADB0F9}"/>
              </a:ext>
            </a:extLst>
          </p:cNvPr>
          <p:cNvSpPr/>
          <p:nvPr/>
        </p:nvSpPr>
        <p:spPr>
          <a:xfrm>
            <a:off x="726162" y="2340327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err="1">
                <a:solidFill>
                  <a:schemeClr val="bg2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CodeBuild</a:t>
            </a:r>
            <a:r>
              <a:rPr kumimoji="1" lang="en-US" altLang="ko-KR" dirty="0">
                <a:solidFill>
                  <a:schemeClr val="bg2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 artifact </a:t>
            </a:r>
            <a:r>
              <a:rPr kumimoji="1" lang="ko-KR" altLang="en-US" dirty="0">
                <a:solidFill>
                  <a:schemeClr val="bg2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생성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32813A1A-994A-C1EA-33DE-249C9C141241}"/>
              </a:ext>
            </a:extLst>
          </p:cNvPr>
          <p:cNvSpPr/>
          <p:nvPr/>
        </p:nvSpPr>
        <p:spPr>
          <a:xfrm>
            <a:off x="726162" y="3146271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err="1">
                <a:solidFill>
                  <a:schemeClr val="bg2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CodeDeploy</a:t>
            </a:r>
            <a:r>
              <a:rPr kumimoji="1" lang="en-US" altLang="ko-KR" dirty="0">
                <a:solidFill>
                  <a:schemeClr val="bg2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 </a:t>
            </a:r>
            <a:r>
              <a:rPr kumimoji="1" lang="ko-KR" altLang="en-US" dirty="0">
                <a:solidFill>
                  <a:schemeClr val="bg2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실행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9563CECB-2FC3-BE8B-F446-891E552F2AB1}"/>
              </a:ext>
            </a:extLst>
          </p:cNvPr>
          <p:cNvSpPr/>
          <p:nvPr/>
        </p:nvSpPr>
        <p:spPr>
          <a:xfrm>
            <a:off x="726162" y="3949493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bg2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ASG/EC2 </a:t>
            </a:r>
            <a:r>
              <a:rPr kumimoji="1" lang="ko-KR" altLang="en-US" dirty="0">
                <a:solidFill>
                  <a:schemeClr val="bg2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대상 인스턴스 배포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962241B5-81BF-3241-E599-2633C0DDBDB4}"/>
              </a:ext>
            </a:extLst>
          </p:cNvPr>
          <p:cNvSpPr/>
          <p:nvPr/>
        </p:nvSpPr>
        <p:spPr>
          <a:xfrm>
            <a:off x="726162" y="4752715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bg2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.</a:t>
            </a:r>
            <a:r>
              <a:rPr kumimoji="1" lang="en-US" altLang="ko-KR" dirty="0" err="1">
                <a:solidFill>
                  <a:schemeClr val="bg2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sh</a:t>
            </a:r>
            <a:r>
              <a:rPr kumimoji="1" lang="ko-KR" altLang="en-US" dirty="0">
                <a:solidFill>
                  <a:schemeClr val="bg2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 파일들 실행</a:t>
            </a:r>
          </a:p>
        </p:txBody>
      </p:sp>
      <p:sp>
        <p:nvSpPr>
          <p:cNvPr id="20" name="Google Shape;139;p2">
            <a:extLst>
              <a:ext uri="{FF2B5EF4-FFF2-40B4-BE49-F238E27FC236}">
                <a16:creationId xmlns:a16="http://schemas.microsoft.com/office/drawing/2014/main" id="{CD238247-F0DB-4005-10FB-40BF8C8C8990}"/>
              </a:ext>
            </a:extLst>
          </p:cNvPr>
          <p:cNvSpPr txBox="1"/>
          <p:nvPr/>
        </p:nvSpPr>
        <p:spPr>
          <a:xfrm rot="5400000">
            <a:off x="2258323" y="2753010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  <a:latin typeface="+mj-ea"/>
                <a:ea typeface="+mj-ea"/>
              </a:rPr>
              <a:t>&gt;</a:t>
            </a:r>
            <a:endParaRPr sz="2000" dirty="0">
              <a:solidFill>
                <a:srgbClr val="204F55"/>
              </a:solidFill>
              <a:latin typeface="+mj-ea"/>
              <a:ea typeface="+mj-ea"/>
            </a:endParaRPr>
          </a:p>
        </p:txBody>
      </p:sp>
      <p:sp>
        <p:nvSpPr>
          <p:cNvPr id="21" name="Google Shape;139;p2">
            <a:extLst>
              <a:ext uri="{FF2B5EF4-FFF2-40B4-BE49-F238E27FC236}">
                <a16:creationId xmlns:a16="http://schemas.microsoft.com/office/drawing/2014/main" id="{91BD58EB-AC8D-1FA4-77D9-D31477EB5A18}"/>
              </a:ext>
            </a:extLst>
          </p:cNvPr>
          <p:cNvSpPr txBox="1"/>
          <p:nvPr/>
        </p:nvSpPr>
        <p:spPr>
          <a:xfrm rot="5400000">
            <a:off x="2258323" y="3542877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  <a:latin typeface="+mj-ea"/>
                <a:ea typeface="+mj-ea"/>
              </a:rPr>
              <a:t>&gt;</a:t>
            </a:r>
            <a:endParaRPr sz="2000" dirty="0">
              <a:solidFill>
                <a:srgbClr val="204F55"/>
              </a:solidFill>
              <a:latin typeface="+mj-ea"/>
              <a:ea typeface="+mj-ea"/>
            </a:endParaRPr>
          </a:p>
        </p:txBody>
      </p:sp>
      <p:sp>
        <p:nvSpPr>
          <p:cNvPr id="22" name="Google Shape;139;p2">
            <a:extLst>
              <a:ext uri="{FF2B5EF4-FFF2-40B4-BE49-F238E27FC236}">
                <a16:creationId xmlns:a16="http://schemas.microsoft.com/office/drawing/2014/main" id="{605DEE78-A9EE-E610-31E9-904B2E26387D}"/>
              </a:ext>
            </a:extLst>
          </p:cNvPr>
          <p:cNvSpPr txBox="1"/>
          <p:nvPr/>
        </p:nvSpPr>
        <p:spPr>
          <a:xfrm rot="5400000">
            <a:off x="2258323" y="4332744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  <a:latin typeface="+mj-ea"/>
                <a:ea typeface="+mj-ea"/>
              </a:rPr>
              <a:t>&gt;</a:t>
            </a:r>
            <a:endParaRPr sz="2000" dirty="0">
              <a:solidFill>
                <a:srgbClr val="204F55"/>
              </a:solidFill>
              <a:latin typeface="+mj-ea"/>
              <a:ea typeface="+mj-ea"/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3F6847BF-B909-BAFD-974C-CB6524A8E084}"/>
              </a:ext>
            </a:extLst>
          </p:cNvPr>
          <p:cNvSpPr/>
          <p:nvPr/>
        </p:nvSpPr>
        <p:spPr>
          <a:xfrm>
            <a:off x="726162" y="5588474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bg2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Health Check</a:t>
            </a:r>
            <a:r>
              <a:rPr kumimoji="1" lang="ko-KR" altLang="en-US" dirty="0">
                <a:solidFill>
                  <a:schemeClr val="bg2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 확인</a:t>
            </a:r>
          </a:p>
        </p:txBody>
      </p:sp>
      <p:sp>
        <p:nvSpPr>
          <p:cNvPr id="24" name="Google Shape;139;p2">
            <a:extLst>
              <a:ext uri="{FF2B5EF4-FFF2-40B4-BE49-F238E27FC236}">
                <a16:creationId xmlns:a16="http://schemas.microsoft.com/office/drawing/2014/main" id="{D12402D9-341F-28E1-6E58-0D4BB4A3A342}"/>
              </a:ext>
            </a:extLst>
          </p:cNvPr>
          <p:cNvSpPr txBox="1"/>
          <p:nvPr/>
        </p:nvSpPr>
        <p:spPr>
          <a:xfrm rot="5400000">
            <a:off x="2258323" y="5168503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  <a:latin typeface="+mj-ea"/>
                <a:ea typeface="+mj-ea"/>
              </a:rPr>
              <a:t>&gt;</a:t>
            </a:r>
            <a:endParaRPr sz="2000" dirty="0">
              <a:solidFill>
                <a:srgbClr val="204F55"/>
              </a:solidFill>
              <a:latin typeface="+mj-ea"/>
              <a:ea typeface="+mj-ea"/>
            </a:endParaRPr>
          </a:p>
        </p:txBody>
      </p:sp>
      <p:sp>
        <p:nvSpPr>
          <p:cNvPr id="25" name="Google Shape;118;g3f24a6a6617_0_8">
            <a:extLst>
              <a:ext uri="{FF2B5EF4-FFF2-40B4-BE49-F238E27FC236}">
                <a16:creationId xmlns:a16="http://schemas.microsoft.com/office/drawing/2014/main" id="{05016D72-EA04-92B6-D522-EDF58D90EB41}"/>
              </a:ext>
            </a:extLst>
          </p:cNvPr>
          <p:cNvSpPr txBox="1">
            <a:spLocks/>
          </p:cNvSpPr>
          <p:nvPr/>
        </p:nvSpPr>
        <p:spPr>
          <a:xfrm>
            <a:off x="4822216" y="4257249"/>
            <a:ext cx="6087872" cy="1589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937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4F55"/>
              </a:buClr>
              <a:buSzPts val="2600"/>
              <a:buFont typeface="Noto Sans Symbols"/>
              <a:buChar char="✔"/>
              <a:defRPr sz="2600" b="1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04F5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04F55"/>
              </a:buClr>
              <a:buSzPts val="1800"/>
              <a:buFont typeface="Malgun Gothic"/>
              <a:buChar char="–"/>
              <a:defRPr sz="1800" b="0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spcBef>
                <a:spcPts val="0"/>
              </a:spcBef>
              <a:buSzPts val="2000"/>
              <a:buNone/>
            </a:pPr>
            <a:r>
              <a:rPr lang="ko-KR" altLang="en-US" sz="1400" dirty="0">
                <a:latin typeface="+mj-ea"/>
                <a:ea typeface="+mj-ea"/>
              </a:rPr>
              <a:t>전략 선정 이유</a:t>
            </a:r>
          </a:p>
          <a:p>
            <a:pPr marL="63500" indent="0">
              <a:buNone/>
            </a:pPr>
            <a:r>
              <a:rPr lang="ko-KR" altLang="ko-KR" sz="1400" b="0" dirty="0">
                <a:latin typeface="+mj-ea"/>
                <a:ea typeface="+mj-ea"/>
              </a:rPr>
              <a:t>이유 1. 실습 프로젝트 규모가 작고 배포 대상이 제한적이었음</a:t>
            </a:r>
            <a:endParaRPr lang="en-US" altLang="ko-KR" sz="1400" b="0" dirty="0">
              <a:latin typeface="+mj-ea"/>
              <a:ea typeface="+mj-ea"/>
            </a:endParaRPr>
          </a:p>
          <a:p>
            <a:pPr marL="63500" indent="0">
              <a:buNone/>
            </a:pPr>
            <a:r>
              <a:rPr lang="ko-KR" altLang="ko-KR" sz="1400" b="0" dirty="0">
                <a:latin typeface="+mj-ea"/>
                <a:ea typeface="+mj-ea"/>
              </a:rPr>
              <a:t>이유 2. CI/CD 전체 흐름 검증이 핵심이었음</a:t>
            </a:r>
          </a:p>
          <a:p>
            <a:pPr marL="63500" indent="0">
              <a:buNone/>
            </a:pPr>
            <a:r>
              <a:rPr lang="ko-KR" altLang="ko-KR" sz="1400" b="0" dirty="0">
                <a:latin typeface="+mj-ea"/>
                <a:ea typeface="+mj-ea"/>
              </a:rPr>
              <a:t>이유 3. 수동 승인과 Health </a:t>
            </a:r>
            <a:r>
              <a:rPr lang="ko-KR" altLang="ko-KR" sz="1400" b="0" dirty="0" err="1">
                <a:latin typeface="+mj-ea"/>
                <a:ea typeface="+mj-ea"/>
              </a:rPr>
              <a:t>Check로</a:t>
            </a:r>
            <a:r>
              <a:rPr lang="ko-KR" altLang="ko-KR" sz="1400" b="0" dirty="0">
                <a:latin typeface="+mj-ea"/>
                <a:ea typeface="+mj-ea"/>
              </a:rPr>
              <a:t> 최소한의 안정성 장치를 둠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68D814-8A18-016C-2A79-690AC4D423FD}"/>
              </a:ext>
            </a:extLst>
          </p:cNvPr>
          <p:cNvSpPr txBox="1"/>
          <p:nvPr/>
        </p:nvSpPr>
        <p:spPr>
          <a:xfrm>
            <a:off x="726162" y="1735816"/>
            <a:ext cx="78143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dirty="0">
                <a:solidFill>
                  <a:schemeClr val="bg2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새로운 서버나 인프라를 추가로 생성하지 않고, </a:t>
            </a:r>
            <a:endParaRPr lang="en-US" altLang="ko-KR" sz="1200" dirty="0">
              <a:solidFill>
                <a:schemeClr val="bg2">
                  <a:lumMod val="90000"/>
                  <a:lumOff val="10000"/>
                </a:schemeClr>
              </a:solidFill>
              <a:latin typeface="+mj-ea"/>
              <a:ea typeface="+mj-ea"/>
            </a:endParaRPr>
          </a:p>
          <a:p>
            <a:r>
              <a:rPr lang="ko-KR" altLang="ko-KR" sz="1200" dirty="0">
                <a:solidFill>
                  <a:schemeClr val="bg2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현재 운영 중인 기존 서버에서 애플리케이션을 일시 중지한 뒤 새 버전으로 교체하여</a:t>
            </a:r>
            <a:r>
              <a:rPr lang="ko-KR" altLang="en-US" sz="1200" dirty="0">
                <a:solidFill>
                  <a:schemeClr val="bg2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ko-KR" sz="1200" dirty="0">
                <a:solidFill>
                  <a:schemeClr val="bg2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업데이트하는 배포 방식</a:t>
            </a:r>
            <a:endParaRPr lang="ko-KR" altLang="en-US" sz="1200" dirty="0">
              <a:solidFill>
                <a:schemeClr val="bg2">
                  <a:lumMod val="90000"/>
                  <a:lumOff val="1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A187BE-C3B4-99F2-45D6-39EDC67FA4A1}"/>
              </a:ext>
            </a:extLst>
          </p:cNvPr>
          <p:cNvSpPr txBox="1"/>
          <p:nvPr/>
        </p:nvSpPr>
        <p:spPr>
          <a:xfrm>
            <a:off x="9622549" y="2880261"/>
            <a:ext cx="320155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dirty="0">
                <a:latin typeface="+mj-ea"/>
                <a:ea typeface="+mj-ea"/>
              </a:rPr>
              <a:t>:</a:t>
            </a:r>
            <a:r>
              <a:rPr lang="ko-KR" altLang="en-US" sz="1050" dirty="0">
                <a:latin typeface="+mj-ea"/>
                <a:ea typeface="+mj-ea"/>
              </a:rPr>
              <a:t> 배포 대상 </a:t>
            </a:r>
            <a:r>
              <a:rPr lang="en-US" altLang="ko-KR" sz="1050" dirty="0">
                <a:latin typeface="+mj-ea"/>
                <a:ea typeface="+mj-ea"/>
              </a:rPr>
              <a:t>EC2 </a:t>
            </a:r>
            <a:r>
              <a:rPr lang="ko-KR" altLang="en-US" sz="1050" dirty="0">
                <a:latin typeface="+mj-ea"/>
                <a:ea typeface="+mj-ea"/>
              </a:rPr>
              <a:t>또는 </a:t>
            </a:r>
            <a:endParaRPr lang="en-US" altLang="ko-KR" sz="1050" dirty="0">
              <a:latin typeface="+mj-ea"/>
              <a:ea typeface="+mj-ea"/>
            </a:endParaRPr>
          </a:p>
          <a:p>
            <a:r>
              <a:rPr lang="en-US" altLang="ko-KR" sz="1050" dirty="0">
                <a:latin typeface="+mj-ea"/>
                <a:ea typeface="+mj-ea"/>
              </a:rPr>
              <a:t>Auto Scaling Group </a:t>
            </a:r>
            <a:r>
              <a:rPr lang="ko-KR" altLang="en-US" sz="1050" dirty="0">
                <a:latin typeface="+mj-ea"/>
                <a:ea typeface="+mj-ea"/>
              </a:rPr>
              <a:t>인스턴스에</a:t>
            </a:r>
            <a:br>
              <a:rPr lang="ko-KR" altLang="en-US" sz="1050" dirty="0">
                <a:latin typeface="+mj-ea"/>
                <a:ea typeface="+mj-ea"/>
              </a:rPr>
            </a:br>
            <a:r>
              <a:rPr lang="ko-KR" altLang="en-US" sz="1050" dirty="0">
                <a:latin typeface="+mj-ea"/>
                <a:ea typeface="+mj-ea"/>
              </a:rPr>
              <a:t>새 </a:t>
            </a:r>
            <a:r>
              <a:rPr lang="en-US" altLang="ko-KR" sz="1050" dirty="0" err="1">
                <a:latin typeface="+mj-ea"/>
                <a:ea typeface="+mj-ea"/>
              </a:rPr>
              <a:t>app.jar</a:t>
            </a:r>
            <a:r>
              <a:rPr lang="ko-KR" altLang="en-US" sz="1050" dirty="0" err="1">
                <a:latin typeface="+mj-ea"/>
                <a:ea typeface="+mj-ea"/>
              </a:rPr>
              <a:t>를</a:t>
            </a:r>
            <a:r>
              <a:rPr lang="ko-KR" altLang="en-US" sz="1050" dirty="0">
                <a:latin typeface="+mj-ea"/>
                <a:ea typeface="+mj-ea"/>
              </a:rPr>
              <a:t> 동시에 배포하는 방식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7AC8E736-CE2C-B8D0-E380-1B01C820136E}"/>
              </a:ext>
            </a:extLst>
          </p:cNvPr>
          <p:cNvCxnSpPr/>
          <p:nvPr/>
        </p:nvCxnSpPr>
        <p:spPr>
          <a:xfrm>
            <a:off x="8586216" y="3084201"/>
            <a:ext cx="923544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477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3C264228-2A66-9776-96FE-1CC4872CC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24a6a6617_0_8">
            <a:extLst>
              <a:ext uri="{FF2B5EF4-FFF2-40B4-BE49-F238E27FC236}">
                <a16:creationId xmlns:a16="http://schemas.microsoft.com/office/drawing/2014/main" id="{92EDFEF5-FF22-9731-8624-2749CB2E66B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69950" y="6492875"/>
            <a:ext cx="59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5</a:t>
            </a:fld>
            <a:endParaRPr/>
          </a:p>
        </p:txBody>
      </p:sp>
      <p:sp>
        <p:nvSpPr>
          <p:cNvPr id="119" name="Google Shape;119;g3f24a6a6617_0_8">
            <a:extLst>
              <a:ext uri="{FF2B5EF4-FFF2-40B4-BE49-F238E27FC236}">
                <a16:creationId xmlns:a16="http://schemas.microsoft.com/office/drawing/2014/main" id="{1C1FAF27-7482-0005-7C8F-D1D85FBDF6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800" y="144035"/>
            <a:ext cx="105156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3000"/>
              <a:buFont typeface="Arial"/>
              <a:buNone/>
            </a:pPr>
            <a:r>
              <a:rPr lang="ko-KR" altLang="en-US" dirty="0"/>
              <a:t>시나리오 정립 및 </a:t>
            </a:r>
            <a:r>
              <a:rPr lang="ko-KR" altLang="en-US" dirty="0" err="1"/>
              <a:t>아키텍쳐</a:t>
            </a:r>
            <a:r>
              <a:rPr lang="ko-KR" altLang="en-US" dirty="0"/>
              <a:t> 설계</a:t>
            </a:r>
            <a:endParaRPr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FD02BA1-208C-D31C-5CB5-FBEA1603AE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150"/>
          <a:stretch>
            <a:fillRect/>
          </a:stretch>
        </p:blipFill>
        <p:spPr>
          <a:xfrm>
            <a:off x="5124435" y="2215139"/>
            <a:ext cx="6643115" cy="3060184"/>
          </a:xfrm>
          <a:prstGeom prst="rect">
            <a:avLst/>
          </a:prstGeom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939E864-4019-831E-1115-3E96B6D6D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754633"/>
              </p:ext>
            </p:extLst>
          </p:nvPr>
        </p:nvGraphicFramePr>
        <p:xfrm>
          <a:off x="593549" y="2015954"/>
          <a:ext cx="4530886" cy="345855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92322">
                  <a:extLst>
                    <a:ext uri="{9D8B030D-6E8A-4147-A177-3AD203B41FA5}">
                      <a16:colId xmlns:a16="http://schemas.microsoft.com/office/drawing/2014/main" val="3618204079"/>
                    </a:ext>
                  </a:extLst>
                </a:gridCol>
                <a:gridCol w="3138564">
                  <a:extLst>
                    <a:ext uri="{9D8B030D-6E8A-4147-A177-3AD203B41FA5}">
                      <a16:colId xmlns:a16="http://schemas.microsoft.com/office/drawing/2014/main" val="136064938"/>
                    </a:ext>
                  </a:extLst>
                </a:gridCol>
              </a:tblGrid>
              <a:tr h="4567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1" dirty="0">
                          <a:effectLst/>
                        </a:rPr>
                        <a:t>구분</a:t>
                      </a:r>
                      <a:endParaRPr lang="ko-KR" sz="1100" dirty="0">
                        <a:effectLst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1" dirty="0">
                          <a:effectLst/>
                        </a:rPr>
                        <a:t>내용</a:t>
                      </a:r>
                      <a:endParaRPr lang="ko-KR" sz="1100" dirty="0">
                        <a:effectLst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835712356"/>
                  </a:ext>
                </a:extLst>
              </a:tr>
              <a:tr h="4567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dirty="0">
                          <a:effectLst/>
                        </a:rPr>
                        <a:t>대상 서비스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dirty="0">
                          <a:effectLst/>
                        </a:rPr>
                        <a:t>도서관리 시스템 </a:t>
                      </a:r>
                      <a:r>
                        <a:rPr lang="ko-KR" sz="1100" dirty="0" err="1">
                          <a:effectLst/>
                        </a:rPr>
                        <a:t>Backend</a:t>
                      </a:r>
                      <a:endParaRPr lang="ko-KR" sz="1100" dirty="0">
                        <a:effectLst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766977932"/>
                  </a:ext>
                </a:extLst>
              </a:tr>
              <a:tr h="4567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dirty="0">
                          <a:effectLst/>
                        </a:rPr>
                        <a:t>목표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dirty="0">
                          <a:effectLst/>
                        </a:rPr>
                        <a:t>코드 변경 후 자동 </a:t>
                      </a:r>
                      <a:r>
                        <a:rPr lang="ko-KR" sz="1100" dirty="0" err="1">
                          <a:effectLst/>
                        </a:rPr>
                        <a:t>빌드·자동</a:t>
                      </a:r>
                      <a:r>
                        <a:rPr lang="ko-KR" sz="1100" dirty="0">
                          <a:effectLst/>
                        </a:rPr>
                        <a:t> 배포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805967433"/>
                  </a:ext>
                </a:extLst>
              </a:tr>
              <a:tr h="6960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dirty="0">
                          <a:effectLst/>
                        </a:rPr>
                        <a:t>주요 AWS 서비스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dirty="0" err="1">
                          <a:effectLst/>
                        </a:rPr>
                        <a:t>CodePipeline</a:t>
                      </a:r>
                      <a:r>
                        <a:rPr lang="ko-KR" sz="1100" dirty="0">
                          <a:effectLst/>
                        </a:rPr>
                        <a:t>, </a:t>
                      </a:r>
                      <a:r>
                        <a:rPr lang="ko-KR" sz="1100" dirty="0" err="1">
                          <a:effectLst/>
                        </a:rPr>
                        <a:t>CodeBuild</a:t>
                      </a:r>
                      <a:r>
                        <a:rPr lang="ko-KR" sz="1100" dirty="0">
                          <a:effectLst/>
                        </a:rPr>
                        <a:t>, </a:t>
                      </a:r>
                      <a:r>
                        <a:rPr lang="ko-KR" sz="1100" dirty="0" err="1">
                          <a:effectLst/>
                        </a:rPr>
                        <a:t>CodeDeploy</a:t>
                      </a:r>
                      <a:r>
                        <a:rPr lang="ko-KR" sz="1100" dirty="0">
                          <a:effectLst/>
                        </a:rPr>
                        <a:t>, EC2, ASG, ALB, </a:t>
                      </a:r>
                      <a:r>
                        <a:rPr lang="ko-KR" sz="1100" dirty="0" err="1">
                          <a:effectLst/>
                        </a:rPr>
                        <a:t>CloudWatch</a:t>
                      </a:r>
                      <a:endParaRPr lang="ko-KR" sz="1100" dirty="0">
                        <a:effectLst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242241509"/>
                  </a:ext>
                </a:extLst>
              </a:tr>
              <a:tr h="6960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dirty="0">
                          <a:effectLst/>
                        </a:rPr>
                        <a:t>최종 흐름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dirty="0">
                          <a:effectLst/>
                        </a:rPr>
                        <a:t>GitHub </a:t>
                      </a:r>
                      <a:r>
                        <a:rPr lang="ko-KR" sz="1100" dirty="0" err="1">
                          <a:effectLst/>
                        </a:rPr>
                        <a:t>Push</a:t>
                      </a:r>
                      <a:r>
                        <a:rPr lang="ko-KR" sz="1100" dirty="0">
                          <a:effectLst/>
                        </a:rPr>
                        <a:t> → </a:t>
                      </a:r>
                      <a:r>
                        <a:rPr lang="ko-KR" sz="1100" dirty="0" err="1">
                          <a:effectLst/>
                        </a:rPr>
                        <a:t>Build</a:t>
                      </a:r>
                      <a:r>
                        <a:rPr lang="ko-KR" sz="1100" dirty="0">
                          <a:effectLst/>
                        </a:rPr>
                        <a:t> → </a:t>
                      </a:r>
                      <a:r>
                        <a:rPr lang="ko-KR" sz="1100" dirty="0" err="1">
                          <a:effectLst/>
                        </a:rPr>
                        <a:t>Deploy</a:t>
                      </a:r>
                      <a:r>
                        <a:rPr lang="ko-KR" sz="1100" dirty="0">
                          <a:effectLst/>
                        </a:rPr>
                        <a:t> → 운영 확인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679930481"/>
                  </a:ext>
                </a:extLst>
              </a:tr>
              <a:tr h="6960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dirty="0">
                          <a:effectLst/>
                        </a:rPr>
                        <a:t>추가기능</a:t>
                      </a:r>
                      <a:endParaRPr lang="ko-KR" sz="1100" dirty="0">
                        <a:effectLst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effectLst/>
                        </a:rPr>
                        <a:t>SNS</a:t>
                      </a:r>
                      <a:r>
                        <a:rPr lang="ko-KR" altLang="en-US" sz="1100" dirty="0">
                          <a:effectLst/>
                        </a:rPr>
                        <a:t> 구독</a:t>
                      </a:r>
                      <a:r>
                        <a:rPr lang="en-US" altLang="ko-KR" sz="1100" dirty="0">
                          <a:effectLst/>
                        </a:rPr>
                        <a:t>,</a:t>
                      </a:r>
                      <a:r>
                        <a:rPr lang="ko-KR" altLang="en-US" sz="1100" dirty="0">
                          <a:effectLst/>
                        </a:rPr>
                        <a:t> 수동 승인 이메일 검토</a:t>
                      </a:r>
                      <a:endParaRPr lang="ko-KR" sz="1100" dirty="0">
                        <a:effectLst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120324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461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24a6a6617_0_20"/>
          <p:cNvSpPr txBox="1">
            <a:spLocks noGrp="1"/>
          </p:cNvSpPr>
          <p:nvPr>
            <p:ph type="sldNum" idx="12"/>
          </p:nvPr>
        </p:nvSpPr>
        <p:spPr>
          <a:xfrm>
            <a:off x="11469950" y="6492875"/>
            <a:ext cx="59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6</a:t>
            </a:fld>
            <a:endParaRPr/>
          </a:p>
        </p:txBody>
      </p:sp>
      <p:sp>
        <p:nvSpPr>
          <p:cNvPr id="125" name="Google Shape;125;g3f24a6a6617_0_20"/>
          <p:cNvSpPr txBox="1">
            <a:spLocks noGrp="1"/>
          </p:cNvSpPr>
          <p:nvPr>
            <p:ph type="title"/>
          </p:nvPr>
        </p:nvSpPr>
        <p:spPr>
          <a:xfrm>
            <a:off x="177800" y="144035"/>
            <a:ext cx="105156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3000"/>
              <a:buFont typeface="Arial"/>
              <a:buNone/>
            </a:pPr>
            <a:r>
              <a:rPr lang="ko-KR" sz="3000"/>
              <a:t>시나리오 정립 및 아키텍쳐 설계</a:t>
            </a:r>
            <a:endParaRPr/>
          </a:p>
        </p:txBody>
      </p:sp>
      <p:sp>
        <p:nvSpPr>
          <p:cNvPr id="126" name="Google Shape;126;g3f24a6a6617_0_20"/>
          <p:cNvSpPr txBox="1">
            <a:spLocks noGrp="1"/>
          </p:cNvSpPr>
          <p:nvPr>
            <p:ph type="body" idx="1"/>
          </p:nvPr>
        </p:nvSpPr>
        <p:spPr>
          <a:xfrm>
            <a:off x="427038" y="1401763"/>
            <a:ext cx="11241300" cy="50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56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✔"/>
            </a:pPr>
            <a:r>
              <a:rPr lang="ko-KR" sz="2000" b="0"/>
              <a:t>미니프로젝트 5차에서 했던 도서관리 시스템 Backend Repo에 buildspec.yml 생성 </a:t>
            </a:r>
            <a:endParaRPr sz="2000" b="0"/>
          </a:p>
        </p:txBody>
      </p:sp>
      <p:pic>
        <p:nvPicPr>
          <p:cNvPr id="127" name="Google Shape;127;g3f24a6a6617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1575" y="1918675"/>
            <a:ext cx="4688199" cy="4455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g3f24a6a6617_0_20"/>
          <p:cNvPicPr preferRelativeResize="0"/>
          <p:nvPr/>
        </p:nvPicPr>
        <p:blipFill rotWithShape="1">
          <a:blip r:embed="rId4">
            <a:alphaModFix/>
          </a:blip>
          <a:srcRect r="83117"/>
          <a:stretch/>
        </p:blipFill>
        <p:spPr>
          <a:xfrm>
            <a:off x="7216000" y="1835900"/>
            <a:ext cx="2357205" cy="905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" name="Google Shape;129;g3f24a6a6617_0_20"/>
          <p:cNvCxnSpPr/>
          <p:nvPr/>
        </p:nvCxnSpPr>
        <p:spPr>
          <a:xfrm rot="10800000" flipH="1">
            <a:off x="1755985" y="2905475"/>
            <a:ext cx="5407800" cy="2224200"/>
          </a:xfrm>
          <a:prstGeom prst="straightConnector1">
            <a:avLst/>
          </a:prstGeom>
          <a:noFill/>
          <a:ln w="762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g3f24a6a6617_0_20"/>
          <p:cNvCxnSpPr/>
          <p:nvPr/>
        </p:nvCxnSpPr>
        <p:spPr>
          <a:xfrm>
            <a:off x="1769810" y="5323250"/>
            <a:ext cx="5464500" cy="958500"/>
          </a:xfrm>
          <a:prstGeom prst="straightConnector1">
            <a:avLst/>
          </a:prstGeom>
          <a:noFill/>
          <a:ln w="762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1" name="Google Shape;131;g3f24a6a6617_0_20"/>
          <p:cNvSpPr/>
          <p:nvPr/>
        </p:nvSpPr>
        <p:spPr>
          <a:xfrm>
            <a:off x="954028" y="5032875"/>
            <a:ext cx="857400" cy="365100"/>
          </a:xfrm>
          <a:prstGeom prst="frame">
            <a:avLst>
              <a:gd name="adj1" fmla="val 12500"/>
            </a:avLst>
          </a:prstGeom>
          <a:solidFill>
            <a:srgbClr val="CC0100"/>
          </a:solidFill>
          <a:ln w="9525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2" name="Google Shape;132;g3f24a6a6617_0_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56951" y="2741600"/>
            <a:ext cx="4081276" cy="3684276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"/>
          <p:cNvSpPr txBox="1">
            <a:spLocks noGrp="1"/>
          </p:cNvSpPr>
          <p:nvPr>
            <p:ph type="sldNum" idx="12"/>
          </p:nvPr>
        </p:nvSpPr>
        <p:spPr>
          <a:xfrm>
            <a:off x="11469950" y="6492875"/>
            <a:ext cx="5950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7</a:t>
            </a:fld>
            <a:endParaRPr/>
          </a:p>
        </p:txBody>
      </p:sp>
      <p:sp>
        <p:nvSpPr>
          <p:cNvPr id="138" name="Google Shape;138;p2"/>
          <p:cNvSpPr txBox="1">
            <a:spLocks noGrp="1"/>
          </p:cNvSpPr>
          <p:nvPr>
            <p:ph type="title"/>
          </p:nvPr>
        </p:nvSpPr>
        <p:spPr>
          <a:xfrm>
            <a:off x="177800" y="144035"/>
            <a:ext cx="10515600" cy="75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3000"/>
              <a:buFont typeface="Arial"/>
              <a:buNone/>
            </a:pPr>
            <a:r>
              <a:rPr lang="ko-KR" sz="3000" dirty="0"/>
              <a:t>CI 환경 구축 : </a:t>
            </a:r>
            <a:r>
              <a:rPr lang="ko-KR" sz="3000" dirty="0" err="1"/>
              <a:t>CodePipeline</a:t>
            </a:r>
            <a:r>
              <a:rPr lang="ko-KR" sz="3000" dirty="0"/>
              <a:t> &amp; </a:t>
            </a:r>
            <a:r>
              <a:rPr lang="ko-KR" sz="3000" dirty="0" err="1"/>
              <a:t>CodeBuild</a:t>
            </a:r>
            <a:endParaRPr dirty="0"/>
          </a:p>
        </p:txBody>
      </p:sp>
      <p:sp>
        <p:nvSpPr>
          <p:cNvPr id="139" name="Google Shape;139;p2"/>
          <p:cNvSpPr txBox="1"/>
          <p:nvPr/>
        </p:nvSpPr>
        <p:spPr>
          <a:xfrm>
            <a:off x="422975" y="1359525"/>
            <a:ext cx="868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55600" lvl="0" indent="-35560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✔"/>
            </a:pPr>
            <a:r>
              <a:rPr lang="ko-KR" sz="2000" dirty="0" err="1">
                <a:solidFill>
                  <a:srgbClr val="204F55"/>
                </a:solidFill>
              </a:rPr>
              <a:t>AWS에</a:t>
            </a:r>
            <a:r>
              <a:rPr lang="ko-KR" sz="2000" dirty="0">
                <a:solidFill>
                  <a:srgbClr val="204F55"/>
                </a:solidFill>
              </a:rPr>
              <a:t> </a:t>
            </a:r>
            <a:r>
              <a:rPr lang="ko-KR" sz="2000" dirty="0" err="1">
                <a:solidFill>
                  <a:srgbClr val="204F55"/>
                </a:solidFill>
              </a:rPr>
              <a:t>CodePipeline</a:t>
            </a:r>
            <a:r>
              <a:rPr lang="ko-KR" sz="2000" dirty="0">
                <a:solidFill>
                  <a:srgbClr val="204F55"/>
                </a:solidFill>
              </a:rPr>
              <a:t> 설계</a:t>
            </a:r>
            <a:endParaRPr sz="2000" dirty="0">
              <a:solidFill>
                <a:srgbClr val="204F55"/>
              </a:solidFill>
            </a:endParaRPr>
          </a:p>
        </p:txBody>
      </p:sp>
      <p:pic>
        <p:nvPicPr>
          <p:cNvPr id="141" name="Google Shape;141;p2"/>
          <p:cNvPicPr preferRelativeResize="0"/>
          <p:nvPr/>
        </p:nvPicPr>
        <p:blipFill rotWithShape="1">
          <a:blip r:embed="rId3">
            <a:alphaModFix/>
          </a:blip>
          <a:srcRect l="83469" t="10132" r="8257" b="81734"/>
          <a:stretch/>
        </p:blipFill>
        <p:spPr>
          <a:xfrm>
            <a:off x="9471308" y="2447125"/>
            <a:ext cx="983552" cy="30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17B6350-08E1-707D-FDF7-F0AF519265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20" y="2940583"/>
            <a:ext cx="6079256" cy="2259489"/>
          </a:xfrm>
          <a:prstGeom prst="rect">
            <a:avLst/>
          </a:prstGeom>
        </p:spPr>
      </p:pic>
      <p:sp>
        <p:nvSpPr>
          <p:cNvPr id="3" name="Google Shape;139;p2">
            <a:extLst>
              <a:ext uri="{FF2B5EF4-FFF2-40B4-BE49-F238E27FC236}">
                <a16:creationId xmlns:a16="http://schemas.microsoft.com/office/drawing/2014/main" id="{4E3734C0-128E-FE07-3E08-980435723C79}"/>
              </a:ext>
            </a:extLst>
          </p:cNvPr>
          <p:cNvSpPr txBox="1"/>
          <p:nvPr/>
        </p:nvSpPr>
        <p:spPr>
          <a:xfrm>
            <a:off x="785408" y="1852125"/>
            <a:ext cx="868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sz="2000" dirty="0" err="1">
                <a:solidFill>
                  <a:srgbClr val="204F55"/>
                </a:solidFill>
              </a:rPr>
              <a:t>Github</a:t>
            </a:r>
            <a:r>
              <a:rPr lang="ko-KR" altLang="en-US" sz="2000" dirty="0" err="1">
                <a:solidFill>
                  <a:srgbClr val="204F55"/>
                </a:solidFill>
              </a:rPr>
              <a:t>에</a:t>
            </a:r>
            <a:r>
              <a:rPr lang="ko-KR" altLang="en-US" sz="2000" dirty="0">
                <a:solidFill>
                  <a:srgbClr val="204F55"/>
                </a:solidFill>
              </a:rPr>
              <a:t> 코드가 올라오면 자동으로 빌드가 실행되도록 만드는 단계 </a:t>
            </a:r>
            <a:endParaRPr sz="2000" dirty="0">
              <a:solidFill>
                <a:srgbClr val="204F55"/>
              </a:solidFill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4BD65FA-9C66-9EC6-6F54-E77363973B7D}"/>
              </a:ext>
            </a:extLst>
          </p:cNvPr>
          <p:cNvGrpSpPr/>
          <p:nvPr/>
        </p:nvGrpSpPr>
        <p:grpSpPr>
          <a:xfrm>
            <a:off x="177800" y="4070327"/>
            <a:ext cx="6490210" cy="492600"/>
            <a:chOff x="1760706" y="3429000"/>
            <a:chExt cx="11539657" cy="87584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C3A723D-C0F4-1B78-CB65-11E0C5FA0C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797" t="63908" r="71565" b="25177"/>
            <a:stretch>
              <a:fillRect/>
            </a:stretch>
          </p:blipFill>
          <p:spPr>
            <a:xfrm>
              <a:off x="1760706" y="3429000"/>
              <a:ext cx="5535039" cy="875847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F30BFB0-D549-3027-7E52-070032131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8974" t="63908" r="2575" b="25177"/>
            <a:stretch>
              <a:fillRect/>
            </a:stretch>
          </p:blipFill>
          <p:spPr>
            <a:xfrm>
              <a:off x="7158182" y="3429000"/>
              <a:ext cx="6142181" cy="875847"/>
            </a:xfrm>
            <a:prstGeom prst="rect">
              <a:avLst/>
            </a:prstGeom>
          </p:spPr>
        </p:pic>
      </p:grp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234B504E-B39C-EAD7-D616-8644EF908235}"/>
              </a:ext>
            </a:extLst>
          </p:cNvPr>
          <p:cNvSpPr/>
          <p:nvPr/>
        </p:nvSpPr>
        <p:spPr>
          <a:xfrm>
            <a:off x="7693890" y="2662252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err="1">
                <a:solidFill>
                  <a:schemeClr val="bg2">
                    <a:lumMod val="90000"/>
                    <a:lumOff val="10000"/>
                  </a:schemeClr>
                </a:solidFill>
              </a:rPr>
              <a:t>Github</a:t>
            </a:r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 Repo </a:t>
            </a:r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확인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9F1B1199-113E-8575-7602-13E6A106572C}"/>
              </a:ext>
            </a:extLst>
          </p:cNvPr>
          <p:cNvSpPr/>
          <p:nvPr/>
        </p:nvSpPr>
        <p:spPr>
          <a:xfrm>
            <a:off x="7693890" y="3468196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err="1">
                <a:solidFill>
                  <a:schemeClr val="bg2">
                    <a:lumMod val="90000"/>
                    <a:lumOff val="10000"/>
                  </a:schemeClr>
                </a:solidFill>
              </a:rPr>
              <a:t>CodePipeline</a:t>
            </a:r>
            <a:endParaRPr kumimoji="1" lang="ko-KR" altLang="en-US" sz="1600" b="1" dirty="0">
              <a:solidFill>
                <a:schemeClr val="bg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6B7BC262-86D8-A83D-C399-968533E702BB}"/>
              </a:ext>
            </a:extLst>
          </p:cNvPr>
          <p:cNvSpPr/>
          <p:nvPr/>
        </p:nvSpPr>
        <p:spPr>
          <a:xfrm>
            <a:off x="7693890" y="4271418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err="1">
                <a:solidFill>
                  <a:schemeClr val="bg2">
                    <a:lumMod val="90000"/>
                    <a:lumOff val="10000"/>
                  </a:schemeClr>
                </a:solidFill>
              </a:rPr>
              <a:t>CodeBuild</a:t>
            </a:r>
            <a:endParaRPr kumimoji="1" lang="ko-KR" altLang="en-US" sz="1600" b="1" dirty="0">
              <a:solidFill>
                <a:schemeClr val="bg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88649EBF-D60D-31EA-8537-44EEEDE3B12B}"/>
              </a:ext>
            </a:extLst>
          </p:cNvPr>
          <p:cNvSpPr/>
          <p:nvPr/>
        </p:nvSpPr>
        <p:spPr>
          <a:xfrm>
            <a:off x="7693890" y="5074640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빌드 성공 </a:t>
            </a:r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/</a:t>
            </a:r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 </a:t>
            </a:r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Artifact </a:t>
            </a:r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생성</a:t>
            </a:r>
          </a:p>
        </p:txBody>
      </p:sp>
      <p:sp>
        <p:nvSpPr>
          <p:cNvPr id="11" name="Google Shape;139;p2">
            <a:extLst>
              <a:ext uri="{FF2B5EF4-FFF2-40B4-BE49-F238E27FC236}">
                <a16:creationId xmlns:a16="http://schemas.microsoft.com/office/drawing/2014/main" id="{B5579FAF-6E78-A137-15DD-99118C4C5078}"/>
              </a:ext>
            </a:extLst>
          </p:cNvPr>
          <p:cNvSpPr txBox="1"/>
          <p:nvPr/>
        </p:nvSpPr>
        <p:spPr>
          <a:xfrm rot="5400000">
            <a:off x="9226051" y="3074935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12" name="Google Shape;139;p2">
            <a:extLst>
              <a:ext uri="{FF2B5EF4-FFF2-40B4-BE49-F238E27FC236}">
                <a16:creationId xmlns:a16="http://schemas.microsoft.com/office/drawing/2014/main" id="{CD31A743-5E16-9AA7-A8B2-01844DDD8BA3}"/>
              </a:ext>
            </a:extLst>
          </p:cNvPr>
          <p:cNvSpPr txBox="1"/>
          <p:nvPr/>
        </p:nvSpPr>
        <p:spPr>
          <a:xfrm rot="5400000">
            <a:off x="9226051" y="3864802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13" name="Google Shape;139;p2">
            <a:extLst>
              <a:ext uri="{FF2B5EF4-FFF2-40B4-BE49-F238E27FC236}">
                <a16:creationId xmlns:a16="http://schemas.microsoft.com/office/drawing/2014/main" id="{74142791-07E2-4B25-3A89-31E3AA5546B1}"/>
              </a:ext>
            </a:extLst>
          </p:cNvPr>
          <p:cNvSpPr txBox="1"/>
          <p:nvPr/>
        </p:nvSpPr>
        <p:spPr>
          <a:xfrm rot="5400000">
            <a:off x="9226051" y="4654669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cxnSp>
        <p:nvCxnSpPr>
          <p:cNvPr id="15" name="꺾인 연결선[E] 14">
            <a:extLst>
              <a:ext uri="{FF2B5EF4-FFF2-40B4-BE49-F238E27FC236}">
                <a16:creationId xmlns:a16="http://schemas.microsoft.com/office/drawing/2014/main" id="{BDEEE0AF-2EA5-C820-0820-037D5DE8A7F3}"/>
              </a:ext>
            </a:extLst>
          </p:cNvPr>
          <p:cNvCxnSpPr>
            <a:cxnSpLocks/>
          </p:cNvCxnSpPr>
          <p:nvPr/>
        </p:nvCxnSpPr>
        <p:spPr>
          <a:xfrm flipV="1">
            <a:off x="6612593" y="2906461"/>
            <a:ext cx="1025880" cy="1410166"/>
          </a:xfrm>
          <a:prstGeom prst="bentConnector3">
            <a:avLst/>
          </a:prstGeom>
          <a:ln w="28575">
            <a:solidFill>
              <a:schemeClr val="bg2">
                <a:lumMod val="90000"/>
                <a:lumOff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BF5BE079-9865-7A65-B082-E7C772967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">
            <a:extLst>
              <a:ext uri="{FF2B5EF4-FFF2-40B4-BE49-F238E27FC236}">
                <a16:creationId xmlns:a16="http://schemas.microsoft.com/office/drawing/2014/main" id="{86F763C3-A9F7-E2F4-68C9-7F157F643D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69950" y="6492875"/>
            <a:ext cx="5950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8</a:t>
            </a:fld>
            <a:endParaRPr/>
          </a:p>
        </p:txBody>
      </p:sp>
      <p:sp>
        <p:nvSpPr>
          <p:cNvPr id="138" name="Google Shape;138;p2">
            <a:extLst>
              <a:ext uri="{FF2B5EF4-FFF2-40B4-BE49-F238E27FC236}">
                <a16:creationId xmlns:a16="http://schemas.microsoft.com/office/drawing/2014/main" id="{4428CCC8-DCB6-7F33-0CC8-93F2B13519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800" y="144035"/>
            <a:ext cx="10515600" cy="75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3000"/>
              <a:buFont typeface="Arial"/>
              <a:buNone/>
            </a:pPr>
            <a:r>
              <a:rPr lang="ko-KR" sz="3000"/>
              <a:t>CI 환경 구축 : CodePipeline &amp; CodeBuild</a:t>
            </a:r>
            <a:endParaRPr dirty="0"/>
          </a:p>
        </p:txBody>
      </p:sp>
      <p:sp>
        <p:nvSpPr>
          <p:cNvPr id="139" name="Google Shape;139;p2">
            <a:extLst>
              <a:ext uri="{FF2B5EF4-FFF2-40B4-BE49-F238E27FC236}">
                <a16:creationId xmlns:a16="http://schemas.microsoft.com/office/drawing/2014/main" id="{859020D4-B738-B4E5-47D9-B54E063B6470}"/>
              </a:ext>
            </a:extLst>
          </p:cNvPr>
          <p:cNvSpPr txBox="1"/>
          <p:nvPr/>
        </p:nvSpPr>
        <p:spPr>
          <a:xfrm>
            <a:off x="422975" y="1359525"/>
            <a:ext cx="868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55600" lvl="0" indent="-35560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✔"/>
            </a:pPr>
            <a:r>
              <a:rPr lang="ko-KR" sz="2000" dirty="0" err="1">
                <a:solidFill>
                  <a:srgbClr val="204F55"/>
                </a:solidFill>
              </a:rPr>
              <a:t>AWS에</a:t>
            </a:r>
            <a:r>
              <a:rPr lang="ko-KR" sz="2000" dirty="0">
                <a:solidFill>
                  <a:srgbClr val="204F55"/>
                </a:solidFill>
              </a:rPr>
              <a:t> </a:t>
            </a:r>
            <a:r>
              <a:rPr lang="ko-KR" sz="2000" dirty="0" err="1">
                <a:solidFill>
                  <a:srgbClr val="204F55"/>
                </a:solidFill>
              </a:rPr>
              <a:t>CodePipeline</a:t>
            </a:r>
            <a:r>
              <a:rPr lang="ko-KR" sz="2000" dirty="0">
                <a:solidFill>
                  <a:srgbClr val="204F55"/>
                </a:solidFill>
              </a:rPr>
              <a:t> 설계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3" name="Google Shape;139;p2">
            <a:extLst>
              <a:ext uri="{FF2B5EF4-FFF2-40B4-BE49-F238E27FC236}">
                <a16:creationId xmlns:a16="http://schemas.microsoft.com/office/drawing/2014/main" id="{1CBE6E2F-4323-E371-2AF5-DA30FAE49F41}"/>
              </a:ext>
            </a:extLst>
          </p:cNvPr>
          <p:cNvSpPr txBox="1"/>
          <p:nvPr/>
        </p:nvSpPr>
        <p:spPr>
          <a:xfrm>
            <a:off x="785408" y="1852125"/>
            <a:ext cx="868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sz="2000" dirty="0" err="1">
                <a:solidFill>
                  <a:srgbClr val="204F55"/>
                </a:solidFill>
              </a:rPr>
              <a:t>Github</a:t>
            </a:r>
            <a:r>
              <a:rPr lang="ko-KR" altLang="en-US" sz="2000" dirty="0" err="1">
                <a:solidFill>
                  <a:srgbClr val="204F55"/>
                </a:solidFill>
              </a:rPr>
              <a:t>에</a:t>
            </a:r>
            <a:r>
              <a:rPr lang="ko-KR" altLang="en-US" sz="2000" dirty="0">
                <a:solidFill>
                  <a:srgbClr val="204F55"/>
                </a:solidFill>
              </a:rPr>
              <a:t> 코드가 올라오면 자동으로 빌드가 실행되도록 만드는 단계 </a:t>
            </a:r>
            <a:endParaRPr sz="2000" dirty="0">
              <a:solidFill>
                <a:srgbClr val="204F55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4A0BF9D-A9D7-5352-C726-F6A0B105A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75" y="2808375"/>
            <a:ext cx="10375929" cy="266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696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0E477111-0B0D-2668-69AA-AFA37DB90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">
            <a:extLst>
              <a:ext uri="{FF2B5EF4-FFF2-40B4-BE49-F238E27FC236}">
                <a16:creationId xmlns:a16="http://schemas.microsoft.com/office/drawing/2014/main" id="{7BB0A25A-81CF-0A10-9A11-8D5B206C901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69950" y="6492875"/>
            <a:ext cx="5950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9</a:t>
            </a:fld>
            <a:endParaRPr/>
          </a:p>
        </p:txBody>
      </p:sp>
      <p:sp>
        <p:nvSpPr>
          <p:cNvPr id="138" name="Google Shape;138;p2">
            <a:extLst>
              <a:ext uri="{FF2B5EF4-FFF2-40B4-BE49-F238E27FC236}">
                <a16:creationId xmlns:a16="http://schemas.microsoft.com/office/drawing/2014/main" id="{4B3CDA47-DF0C-4527-1E63-8CCD29B23C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800" y="144035"/>
            <a:ext cx="10515600" cy="75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3000"/>
              <a:buFont typeface="Arial"/>
              <a:buNone/>
            </a:pPr>
            <a:r>
              <a:rPr lang="ko-KR" sz="3000"/>
              <a:t>CI 환경 구축 : CodePipeline &amp; CodeBuild</a:t>
            </a:r>
            <a:endParaRPr dirty="0"/>
          </a:p>
        </p:txBody>
      </p:sp>
      <p:sp>
        <p:nvSpPr>
          <p:cNvPr id="139" name="Google Shape;139;p2">
            <a:extLst>
              <a:ext uri="{FF2B5EF4-FFF2-40B4-BE49-F238E27FC236}">
                <a16:creationId xmlns:a16="http://schemas.microsoft.com/office/drawing/2014/main" id="{CEA8EB68-4CA2-6A2A-77C1-0A5D351023B1}"/>
              </a:ext>
            </a:extLst>
          </p:cNvPr>
          <p:cNvSpPr txBox="1"/>
          <p:nvPr/>
        </p:nvSpPr>
        <p:spPr>
          <a:xfrm>
            <a:off x="422975" y="1359525"/>
            <a:ext cx="868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55600" lvl="0" indent="-35560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✔"/>
            </a:pPr>
            <a:r>
              <a:rPr lang="en-US" altLang="ko-KR" sz="2000" dirty="0" err="1">
                <a:solidFill>
                  <a:srgbClr val="204F55"/>
                </a:solidFill>
              </a:rPr>
              <a:t>CodeBuild</a:t>
            </a:r>
            <a:r>
              <a:rPr lang="en-US" altLang="ko-KR" sz="2000" dirty="0">
                <a:solidFill>
                  <a:srgbClr val="204F55"/>
                </a:solidFill>
              </a:rPr>
              <a:t> : </a:t>
            </a:r>
            <a:r>
              <a:rPr lang="ko-KR" altLang="en-US" sz="2000" dirty="0">
                <a:solidFill>
                  <a:srgbClr val="204F55"/>
                </a:solidFill>
              </a:rPr>
              <a:t>빌드 및 자동 배포</a:t>
            </a:r>
            <a:endParaRPr sz="2000" dirty="0">
              <a:solidFill>
                <a:srgbClr val="204F55"/>
              </a:solidFill>
            </a:endParaRPr>
          </a:p>
        </p:txBody>
      </p:sp>
      <p:pic>
        <p:nvPicPr>
          <p:cNvPr id="141" name="Google Shape;141;p2">
            <a:extLst>
              <a:ext uri="{FF2B5EF4-FFF2-40B4-BE49-F238E27FC236}">
                <a16:creationId xmlns:a16="http://schemas.microsoft.com/office/drawing/2014/main" id="{86A8690C-27A1-5D91-B3F4-16D4854C27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83469" t="10132" r="8257" b="81734"/>
          <a:stretch/>
        </p:blipFill>
        <p:spPr>
          <a:xfrm>
            <a:off x="9471308" y="2447125"/>
            <a:ext cx="983552" cy="302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39;p2">
            <a:extLst>
              <a:ext uri="{FF2B5EF4-FFF2-40B4-BE49-F238E27FC236}">
                <a16:creationId xmlns:a16="http://schemas.microsoft.com/office/drawing/2014/main" id="{DA61BCDC-AF30-D372-8041-AF16309909D8}"/>
              </a:ext>
            </a:extLst>
          </p:cNvPr>
          <p:cNvSpPr txBox="1"/>
          <p:nvPr/>
        </p:nvSpPr>
        <p:spPr>
          <a:xfrm>
            <a:off x="785408" y="1852125"/>
            <a:ext cx="868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sz="2000" dirty="0" err="1">
                <a:solidFill>
                  <a:srgbClr val="204F55"/>
                </a:solidFill>
              </a:rPr>
              <a:t>Github</a:t>
            </a:r>
            <a:r>
              <a:rPr lang="ko-KR" altLang="en-US" sz="2000" dirty="0" err="1">
                <a:solidFill>
                  <a:srgbClr val="204F55"/>
                </a:solidFill>
              </a:rPr>
              <a:t>에</a:t>
            </a:r>
            <a:r>
              <a:rPr lang="ko-KR" altLang="en-US" sz="2000" dirty="0">
                <a:solidFill>
                  <a:srgbClr val="204F55"/>
                </a:solidFill>
              </a:rPr>
              <a:t> 코드가 올라오면 자동으로 빌드가 실행되도록 만드는 단계 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0D7268BF-B059-CA27-942D-034AFE999A3C}"/>
              </a:ext>
            </a:extLst>
          </p:cNvPr>
          <p:cNvSpPr/>
          <p:nvPr/>
        </p:nvSpPr>
        <p:spPr>
          <a:xfrm>
            <a:off x="422975" y="2688579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Build Stage</a:t>
            </a:r>
            <a:endParaRPr kumimoji="1" lang="ko-KR" altLang="en-US" sz="1600" b="1" dirty="0">
              <a:solidFill>
                <a:schemeClr val="bg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7FB2454D-D357-2F3E-4F52-5F74E0E61E2F}"/>
              </a:ext>
            </a:extLst>
          </p:cNvPr>
          <p:cNvSpPr/>
          <p:nvPr/>
        </p:nvSpPr>
        <p:spPr>
          <a:xfrm>
            <a:off x="1014102" y="3615292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Team-14-test</a:t>
            </a:r>
            <a:endParaRPr kumimoji="1" lang="ko-KR" altLang="en-US" sz="1600" b="1" dirty="0">
              <a:solidFill>
                <a:schemeClr val="bg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F098BC94-6DDB-8C27-6661-83BB2450DFD0}"/>
              </a:ext>
            </a:extLst>
          </p:cNvPr>
          <p:cNvSpPr/>
          <p:nvPr/>
        </p:nvSpPr>
        <p:spPr>
          <a:xfrm>
            <a:off x="1014102" y="4556791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Build</a:t>
            </a:r>
            <a:endParaRPr kumimoji="1" lang="ko-KR" altLang="en-US" sz="1600" b="1" dirty="0">
              <a:solidFill>
                <a:schemeClr val="bg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1" name="Google Shape;139;p2">
            <a:extLst>
              <a:ext uri="{FF2B5EF4-FFF2-40B4-BE49-F238E27FC236}">
                <a16:creationId xmlns:a16="http://schemas.microsoft.com/office/drawing/2014/main" id="{757F47AF-A743-57B2-5585-B656A42BDBD0}"/>
              </a:ext>
            </a:extLst>
          </p:cNvPr>
          <p:cNvSpPr txBox="1"/>
          <p:nvPr/>
        </p:nvSpPr>
        <p:spPr>
          <a:xfrm rot="5400000">
            <a:off x="2546263" y="3222031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12" name="Google Shape;139;p2">
            <a:extLst>
              <a:ext uri="{FF2B5EF4-FFF2-40B4-BE49-F238E27FC236}">
                <a16:creationId xmlns:a16="http://schemas.microsoft.com/office/drawing/2014/main" id="{054B6AD1-DFCC-B3D9-794B-754F2AEE9B69}"/>
              </a:ext>
            </a:extLst>
          </p:cNvPr>
          <p:cNvSpPr txBox="1"/>
          <p:nvPr/>
        </p:nvSpPr>
        <p:spPr>
          <a:xfrm rot="5400000">
            <a:off x="2546263" y="4150175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14" name="Google Shape;139;p2">
            <a:extLst>
              <a:ext uri="{FF2B5EF4-FFF2-40B4-BE49-F238E27FC236}">
                <a16:creationId xmlns:a16="http://schemas.microsoft.com/office/drawing/2014/main" id="{4E00B30F-A964-5DCD-2D9E-484481BF3E1C}"/>
              </a:ext>
            </a:extLst>
          </p:cNvPr>
          <p:cNvSpPr txBox="1"/>
          <p:nvPr/>
        </p:nvSpPr>
        <p:spPr>
          <a:xfrm>
            <a:off x="4451928" y="3611109"/>
            <a:ext cx="752994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sz="1800" dirty="0">
                <a:solidFill>
                  <a:srgbClr val="204F55"/>
                </a:solidFill>
              </a:rPr>
              <a:t> - </a:t>
            </a:r>
            <a:r>
              <a:rPr lang="en-US" sz="1800" dirty="0" err="1">
                <a:solidFill>
                  <a:srgbClr val="204F55"/>
                </a:solidFill>
              </a:rPr>
              <a:t>CodeBuild</a:t>
            </a:r>
            <a:r>
              <a:rPr lang="en-US" sz="1800" dirty="0">
                <a:solidFill>
                  <a:srgbClr val="204F55"/>
                </a:solidFill>
              </a:rPr>
              <a:t> 1</a:t>
            </a:r>
            <a:r>
              <a:rPr lang="ko-KR" altLang="en-US" sz="1800" dirty="0">
                <a:solidFill>
                  <a:srgbClr val="204F55"/>
                </a:solidFill>
              </a:rPr>
              <a:t> </a:t>
            </a:r>
            <a:r>
              <a:rPr lang="en-US" altLang="ko-KR" sz="1800" dirty="0">
                <a:solidFill>
                  <a:srgbClr val="204F55"/>
                </a:solidFill>
              </a:rPr>
              <a:t>:</a:t>
            </a:r>
            <a:r>
              <a:rPr lang="ko-KR" altLang="en-US" sz="1800" dirty="0">
                <a:solidFill>
                  <a:srgbClr val="204F55"/>
                </a:solidFill>
              </a:rPr>
              <a:t> 단위 테스트 실행 </a:t>
            </a:r>
            <a:r>
              <a:rPr lang="en-US" altLang="ko-KR" sz="1800" dirty="0">
                <a:solidFill>
                  <a:srgbClr val="204F55"/>
                </a:solidFill>
              </a:rPr>
              <a:t>/</a:t>
            </a:r>
            <a:r>
              <a:rPr lang="ko-KR" altLang="en-US" sz="1800" dirty="0">
                <a:solidFill>
                  <a:srgbClr val="204F55"/>
                </a:solidFill>
              </a:rPr>
              <a:t> </a:t>
            </a:r>
            <a:r>
              <a:rPr lang="en-US" altLang="ko-KR" sz="1800" dirty="0">
                <a:solidFill>
                  <a:srgbClr val="204F55"/>
                </a:solidFill>
              </a:rPr>
              <a:t>unit-test-</a:t>
            </a:r>
            <a:r>
              <a:rPr lang="en-US" altLang="ko-KR" sz="1800" dirty="0" err="1">
                <a:solidFill>
                  <a:srgbClr val="204F55"/>
                </a:solidFill>
              </a:rPr>
              <a:t>buildspec.yml</a:t>
            </a:r>
            <a:r>
              <a:rPr lang="en-US" altLang="ko-KR" sz="1800" dirty="0">
                <a:solidFill>
                  <a:srgbClr val="204F55"/>
                </a:solidFill>
              </a:rPr>
              <a:t> </a:t>
            </a:r>
            <a:r>
              <a:rPr lang="ko-KR" altLang="en-US" sz="1800" dirty="0">
                <a:solidFill>
                  <a:srgbClr val="204F55"/>
                </a:solidFill>
              </a:rPr>
              <a:t>기반 검증</a:t>
            </a:r>
          </a:p>
        </p:txBody>
      </p:sp>
      <p:sp>
        <p:nvSpPr>
          <p:cNvPr id="16" name="Google Shape;139;p2">
            <a:extLst>
              <a:ext uri="{FF2B5EF4-FFF2-40B4-BE49-F238E27FC236}">
                <a16:creationId xmlns:a16="http://schemas.microsoft.com/office/drawing/2014/main" id="{7DA109D1-96CF-6297-3DC1-C8AB54582C0A}"/>
              </a:ext>
            </a:extLst>
          </p:cNvPr>
          <p:cNvSpPr txBox="1"/>
          <p:nvPr/>
        </p:nvSpPr>
        <p:spPr>
          <a:xfrm>
            <a:off x="4451928" y="4556791"/>
            <a:ext cx="7158183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sz="1800" dirty="0">
                <a:solidFill>
                  <a:srgbClr val="204F55"/>
                </a:solidFill>
              </a:rPr>
              <a:t> - </a:t>
            </a:r>
            <a:r>
              <a:rPr lang="en-US" sz="1800" dirty="0" err="1">
                <a:solidFill>
                  <a:srgbClr val="204F55"/>
                </a:solidFill>
              </a:rPr>
              <a:t>CodeBuild</a:t>
            </a:r>
            <a:r>
              <a:rPr lang="en-US" sz="1800" dirty="0">
                <a:solidFill>
                  <a:srgbClr val="204F55"/>
                </a:solidFill>
              </a:rPr>
              <a:t> 2</a:t>
            </a:r>
            <a:r>
              <a:rPr lang="ko-KR" altLang="en-US" sz="1800" dirty="0">
                <a:solidFill>
                  <a:srgbClr val="204F55"/>
                </a:solidFill>
              </a:rPr>
              <a:t> </a:t>
            </a:r>
            <a:r>
              <a:rPr lang="en-US" altLang="ko-KR" sz="1800" dirty="0">
                <a:solidFill>
                  <a:srgbClr val="204F55"/>
                </a:solidFill>
              </a:rPr>
              <a:t>:</a:t>
            </a:r>
            <a:r>
              <a:rPr lang="ko-KR" altLang="en-US" sz="1800" dirty="0">
                <a:solidFill>
                  <a:srgbClr val="204F55"/>
                </a:solidFill>
              </a:rPr>
              <a:t> 배포용 </a:t>
            </a:r>
            <a:r>
              <a:rPr lang="en-US" altLang="ko-KR" sz="1800" dirty="0">
                <a:solidFill>
                  <a:srgbClr val="204F55"/>
                </a:solidFill>
              </a:rPr>
              <a:t>.jar </a:t>
            </a:r>
            <a:r>
              <a:rPr lang="ko-KR" altLang="en-US" sz="1800" dirty="0">
                <a:solidFill>
                  <a:srgbClr val="204F55"/>
                </a:solidFill>
              </a:rPr>
              <a:t>파일 생성 </a:t>
            </a:r>
            <a:r>
              <a:rPr lang="en-US" altLang="ko-KR" sz="1800" dirty="0">
                <a:solidFill>
                  <a:srgbClr val="204F55"/>
                </a:solidFill>
              </a:rPr>
              <a:t>/</a:t>
            </a:r>
            <a:r>
              <a:rPr lang="ko-KR" altLang="en-US" sz="1800" dirty="0">
                <a:solidFill>
                  <a:srgbClr val="204F55"/>
                </a:solidFill>
              </a:rPr>
              <a:t> </a:t>
            </a:r>
            <a:r>
              <a:rPr lang="en-US" altLang="ko-KR" sz="1800" dirty="0">
                <a:solidFill>
                  <a:srgbClr val="204F55"/>
                </a:solidFill>
              </a:rPr>
              <a:t>artifact</a:t>
            </a:r>
            <a:r>
              <a:rPr lang="ko-KR" altLang="en-US" sz="1800" dirty="0">
                <a:solidFill>
                  <a:srgbClr val="204F55"/>
                </a:solidFill>
              </a:rPr>
              <a:t> 파일 생성</a:t>
            </a:r>
            <a:endParaRPr sz="1800" dirty="0">
              <a:solidFill>
                <a:srgbClr val="204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85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3CCFC3BE-A39A-B68C-B408-F1AA1A82C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">
            <a:extLst>
              <a:ext uri="{FF2B5EF4-FFF2-40B4-BE49-F238E27FC236}">
                <a16:creationId xmlns:a16="http://schemas.microsoft.com/office/drawing/2014/main" id="{55862060-EED0-66C5-9375-7E5CF079B02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69950" y="6492875"/>
            <a:ext cx="5950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10</a:t>
            </a:fld>
            <a:endParaRPr/>
          </a:p>
        </p:txBody>
      </p:sp>
      <p:sp>
        <p:nvSpPr>
          <p:cNvPr id="138" name="Google Shape;138;p2">
            <a:extLst>
              <a:ext uri="{FF2B5EF4-FFF2-40B4-BE49-F238E27FC236}">
                <a16:creationId xmlns:a16="http://schemas.microsoft.com/office/drawing/2014/main" id="{3BCBE4C2-CCC7-9920-5767-E0CB7AB351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800" y="144035"/>
            <a:ext cx="10515600" cy="75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3000"/>
              <a:buFont typeface="Arial"/>
              <a:buNone/>
            </a:pPr>
            <a:r>
              <a:rPr lang="ko-KR" sz="3000" dirty="0"/>
              <a:t>CI 환경 구축 : </a:t>
            </a:r>
            <a:r>
              <a:rPr lang="ko-KR" sz="3000" dirty="0" err="1"/>
              <a:t>CodePipeline</a:t>
            </a:r>
            <a:r>
              <a:rPr lang="ko-KR" sz="3000" dirty="0"/>
              <a:t> &amp; </a:t>
            </a:r>
            <a:r>
              <a:rPr lang="ko-KR" sz="3000" dirty="0" err="1"/>
              <a:t>CodeBuild</a:t>
            </a:r>
            <a:endParaRPr dirty="0"/>
          </a:p>
        </p:txBody>
      </p:sp>
      <p:sp>
        <p:nvSpPr>
          <p:cNvPr id="139" name="Google Shape;139;p2">
            <a:extLst>
              <a:ext uri="{FF2B5EF4-FFF2-40B4-BE49-F238E27FC236}">
                <a16:creationId xmlns:a16="http://schemas.microsoft.com/office/drawing/2014/main" id="{400C7E51-9E71-7D91-3F52-EF4908CA7F63}"/>
              </a:ext>
            </a:extLst>
          </p:cNvPr>
          <p:cNvSpPr txBox="1"/>
          <p:nvPr/>
        </p:nvSpPr>
        <p:spPr>
          <a:xfrm>
            <a:off x="422975" y="1359525"/>
            <a:ext cx="868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55600" lvl="0" indent="-35560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✔"/>
            </a:pPr>
            <a:r>
              <a:rPr lang="en-US" altLang="ko-KR" sz="2000" dirty="0" err="1">
                <a:solidFill>
                  <a:srgbClr val="204F55"/>
                </a:solidFill>
              </a:rPr>
              <a:t>CodeBuild</a:t>
            </a:r>
            <a:r>
              <a:rPr lang="en-US" altLang="ko-KR" sz="2000" dirty="0">
                <a:solidFill>
                  <a:srgbClr val="204F55"/>
                </a:solidFill>
              </a:rPr>
              <a:t> : </a:t>
            </a:r>
            <a:r>
              <a:rPr lang="ko-KR" altLang="en-US" sz="2000" dirty="0">
                <a:solidFill>
                  <a:srgbClr val="204F55"/>
                </a:solidFill>
              </a:rPr>
              <a:t>빌드 및 자동 배포</a:t>
            </a:r>
            <a:endParaRPr sz="2000" dirty="0">
              <a:solidFill>
                <a:srgbClr val="204F55"/>
              </a:solidFill>
            </a:endParaRPr>
          </a:p>
        </p:txBody>
      </p:sp>
      <p:pic>
        <p:nvPicPr>
          <p:cNvPr id="141" name="Google Shape;141;p2">
            <a:extLst>
              <a:ext uri="{FF2B5EF4-FFF2-40B4-BE49-F238E27FC236}">
                <a16:creationId xmlns:a16="http://schemas.microsoft.com/office/drawing/2014/main" id="{CC7DDB33-8905-7B4E-3FD7-6D36988B555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83469" t="10132" r="8257" b="81734"/>
          <a:stretch/>
        </p:blipFill>
        <p:spPr>
          <a:xfrm>
            <a:off x="9471308" y="2447125"/>
            <a:ext cx="983552" cy="302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39;p2">
            <a:extLst>
              <a:ext uri="{FF2B5EF4-FFF2-40B4-BE49-F238E27FC236}">
                <a16:creationId xmlns:a16="http://schemas.microsoft.com/office/drawing/2014/main" id="{250C3EBA-C92D-A6C3-87EC-3D96B680560F}"/>
              </a:ext>
            </a:extLst>
          </p:cNvPr>
          <p:cNvSpPr txBox="1"/>
          <p:nvPr/>
        </p:nvSpPr>
        <p:spPr>
          <a:xfrm>
            <a:off x="785408" y="1852125"/>
            <a:ext cx="868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sz="2000" dirty="0" err="1">
                <a:solidFill>
                  <a:srgbClr val="204F55"/>
                </a:solidFill>
              </a:rPr>
              <a:t>Github</a:t>
            </a:r>
            <a:r>
              <a:rPr lang="ko-KR" altLang="en-US" sz="2000" dirty="0" err="1">
                <a:solidFill>
                  <a:srgbClr val="204F55"/>
                </a:solidFill>
              </a:rPr>
              <a:t>에</a:t>
            </a:r>
            <a:r>
              <a:rPr lang="ko-KR" altLang="en-US" sz="2000" dirty="0">
                <a:solidFill>
                  <a:srgbClr val="204F55"/>
                </a:solidFill>
              </a:rPr>
              <a:t> 코드가 올라오면 자동으로 빌드가 실행되도록 만드는 단계 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3171D445-775D-12A5-3F72-92B17822412B}"/>
              </a:ext>
            </a:extLst>
          </p:cNvPr>
          <p:cNvSpPr/>
          <p:nvPr/>
        </p:nvSpPr>
        <p:spPr>
          <a:xfrm>
            <a:off x="422975" y="2688579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Build Stage</a:t>
            </a:r>
            <a:endParaRPr kumimoji="1" lang="ko-KR" altLang="en-US" sz="1600" b="1" dirty="0">
              <a:solidFill>
                <a:schemeClr val="bg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7C7C50C5-46B3-F88C-EB24-21B4CBAE6CE2}"/>
              </a:ext>
            </a:extLst>
          </p:cNvPr>
          <p:cNvSpPr/>
          <p:nvPr/>
        </p:nvSpPr>
        <p:spPr>
          <a:xfrm>
            <a:off x="1014102" y="3615292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Team-14-test</a:t>
            </a:r>
            <a:endParaRPr kumimoji="1" lang="ko-KR" altLang="en-US" sz="1600" b="1" dirty="0">
              <a:solidFill>
                <a:schemeClr val="bg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F497C6C6-7C68-3DB6-DD87-11196703DB30}"/>
              </a:ext>
            </a:extLst>
          </p:cNvPr>
          <p:cNvSpPr/>
          <p:nvPr/>
        </p:nvSpPr>
        <p:spPr>
          <a:xfrm>
            <a:off x="1014102" y="4556791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Build</a:t>
            </a:r>
            <a:endParaRPr kumimoji="1" lang="ko-KR" altLang="en-US" sz="1600" b="1" dirty="0">
              <a:solidFill>
                <a:schemeClr val="bg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1" name="Google Shape;139;p2">
            <a:extLst>
              <a:ext uri="{FF2B5EF4-FFF2-40B4-BE49-F238E27FC236}">
                <a16:creationId xmlns:a16="http://schemas.microsoft.com/office/drawing/2014/main" id="{05635B86-7E03-48E1-FFDE-867FAF860379}"/>
              </a:ext>
            </a:extLst>
          </p:cNvPr>
          <p:cNvSpPr txBox="1"/>
          <p:nvPr/>
        </p:nvSpPr>
        <p:spPr>
          <a:xfrm rot="5400000">
            <a:off x="2546263" y="3222031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12" name="Google Shape;139;p2">
            <a:extLst>
              <a:ext uri="{FF2B5EF4-FFF2-40B4-BE49-F238E27FC236}">
                <a16:creationId xmlns:a16="http://schemas.microsoft.com/office/drawing/2014/main" id="{79691858-88CD-8EAD-4B37-890990825253}"/>
              </a:ext>
            </a:extLst>
          </p:cNvPr>
          <p:cNvSpPr txBox="1"/>
          <p:nvPr/>
        </p:nvSpPr>
        <p:spPr>
          <a:xfrm rot="5400000">
            <a:off x="2546263" y="4150175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14" name="Google Shape;139;p2">
            <a:extLst>
              <a:ext uri="{FF2B5EF4-FFF2-40B4-BE49-F238E27FC236}">
                <a16:creationId xmlns:a16="http://schemas.microsoft.com/office/drawing/2014/main" id="{874CC4B5-3CD6-52BF-9C6E-2FD3F91CB557}"/>
              </a:ext>
            </a:extLst>
          </p:cNvPr>
          <p:cNvSpPr txBox="1"/>
          <p:nvPr/>
        </p:nvSpPr>
        <p:spPr>
          <a:xfrm>
            <a:off x="4451928" y="2905946"/>
            <a:ext cx="752994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sz="1800" dirty="0">
                <a:solidFill>
                  <a:srgbClr val="204F55"/>
                </a:solidFill>
              </a:rPr>
              <a:t> - </a:t>
            </a:r>
            <a:r>
              <a:rPr lang="en-US" sz="1800" dirty="0" err="1">
                <a:solidFill>
                  <a:srgbClr val="204F55"/>
                </a:solidFill>
              </a:rPr>
              <a:t>CodeBuild</a:t>
            </a:r>
            <a:r>
              <a:rPr lang="en-US" sz="1800" dirty="0">
                <a:solidFill>
                  <a:srgbClr val="204F55"/>
                </a:solidFill>
              </a:rPr>
              <a:t> 1</a:t>
            </a:r>
            <a:r>
              <a:rPr lang="ko-KR" altLang="en-US" sz="1800" dirty="0">
                <a:solidFill>
                  <a:srgbClr val="204F55"/>
                </a:solidFill>
              </a:rPr>
              <a:t> </a:t>
            </a:r>
            <a:r>
              <a:rPr lang="en-US" altLang="ko-KR" sz="1800" dirty="0">
                <a:solidFill>
                  <a:srgbClr val="204F55"/>
                </a:solidFill>
              </a:rPr>
              <a:t>:</a:t>
            </a:r>
            <a:r>
              <a:rPr lang="ko-KR" altLang="en-US" sz="1800" dirty="0">
                <a:solidFill>
                  <a:srgbClr val="204F55"/>
                </a:solidFill>
              </a:rPr>
              <a:t> 단위 테스트 실행 </a:t>
            </a:r>
            <a:r>
              <a:rPr lang="en-US" altLang="ko-KR" sz="1800" dirty="0">
                <a:solidFill>
                  <a:srgbClr val="204F55"/>
                </a:solidFill>
              </a:rPr>
              <a:t>/</a:t>
            </a:r>
            <a:r>
              <a:rPr lang="ko-KR" altLang="en-US" sz="1800" dirty="0">
                <a:solidFill>
                  <a:srgbClr val="204F55"/>
                </a:solidFill>
              </a:rPr>
              <a:t> </a:t>
            </a:r>
            <a:r>
              <a:rPr lang="en-US" altLang="ko-KR" sz="1800" dirty="0">
                <a:solidFill>
                  <a:srgbClr val="204F55"/>
                </a:solidFill>
              </a:rPr>
              <a:t>unit-test-</a:t>
            </a:r>
            <a:r>
              <a:rPr lang="en-US" altLang="ko-KR" sz="1800" dirty="0" err="1">
                <a:solidFill>
                  <a:srgbClr val="204F55"/>
                </a:solidFill>
              </a:rPr>
              <a:t>buildspec.yml</a:t>
            </a:r>
            <a:r>
              <a:rPr lang="en-US" altLang="ko-KR" sz="1800" dirty="0">
                <a:solidFill>
                  <a:srgbClr val="204F55"/>
                </a:solidFill>
              </a:rPr>
              <a:t> </a:t>
            </a:r>
            <a:r>
              <a:rPr lang="ko-KR" altLang="en-US" sz="1800" dirty="0">
                <a:solidFill>
                  <a:srgbClr val="204F55"/>
                </a:solidFill>
              </a:rPr>
              <a:t>기반 검증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19B6919-9F70-A08C-3283-51E23F16D23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4630883" y="3496586"/>
            <a:ext cx="7172037" cy="95576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73D7C9B-A7B7-6193-9C33-D499F616DE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86" t="69817" r="27340"/>
          <a:stretch>
            <a:fillRect/>
          </a:stretch>
        </p:blipFill>
        <p:spPr>
          <a:xfrm>
            <a:off x="4476174" y="3805629"/>
            <a:ext cx="7656945" cy="430898"/>
          </a:xfrm>
          <a:prstGeom prst="rect">
            <a:avLst/>
          </a:prstGeom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FA51D86-78DC-19E5-6FF9-B1AC393B10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" t="20419" r="1126" b="8362"/>
          <a:stretch>
            <a:fillRect/>
          </a:stretch>
        </p:blipFill>
        <p:spPr>
          <a:xfrm>
            <a:off x="8832969" y="2413346"/>
            <a:ext cx="2636981" cy="48841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10560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F7BCF103-A31D-CF62-DBCF-80320CFF8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">
            <a:extLst>
              <a:ext uri="{FF2B5EF4-FFF2-40B4-BE49-F238E27FC236}">
                <a16:creationId xmlns:a16="http://schemas.microsoft.com/office/drawing/2014/main" id="{D5CBC09E-BB1E-A01E-604A-6548DFE30AC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69950" y="6492875"/>
            <a:ext cx="5950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11</a:t>
            </a:fld>
            <a:endParaRPr/>
          </a:p>
        </p:txBody>
      </p:sp>
      <p:sp>
        <p:nvSpPr>
          <p:cNvPr id="138" name="Google Shape;138;p2">
            <a:extLst>
              <a:ext uri="{FF2B5EF4-FFF2-40B4-BE49-F238E27FC236}">
                <a16:creationId xmlns:a16="http://schemas.microsoft.com/office/drawing/2014/main" id="{FA3568C2-651A-6E85-F32C-4BF0BC07EF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800" y="144035"/>
            <a:ext cx="10515600" cy="75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3000"/>
              <a:buFont typeface="Arial"/>
              <a:buNone/>
            </a:pPr>
            <a:r>
              <a:rPr lang="ko-KR" sz="3000" dirty="0"/>
              <a:t>CI 환경 구축 : </a:t>
            </a:r>
            <a:r>
              <a:rPr lang="ko-KR" sz="3000" dirty="0" err="1"/>
              <a:t>CodePipeline</a:t>
            </a:r>
            <a:r>
              <a:rPr lang="ko-KR" sz="3000" dirty="0"/>
              <a:t> &amp; </a:t>
            </a:r>
            <a:r>
              <a:rPr lang="ko-KR" sz="3000" dirty="0" err="1"/>
              <a:t>CodeBuild</a:t>
            </a:r>
            <a:endParaRPr dirty="0"/>
          </a:p>
        </p:txBody>
      </p:sp>
      <p:sp>
        <p:nvSpPr>
          <p:cNvPr id="139" name="Google Shape;139;p2">
            <a:extLst>
              <a:ext uri="{FF2B5EF4-FFF2-40B4-BE49-F238E27FC236}">
                <a16:creationId xmlns:a16="http://schemas.microsoft.com/office/drawing/2014/main" id="{1E078AAE-394D-D1E7-1062-FB17C5C893F7}"/>
              </a:ext>
            </a:extLst>
          </p:cNvPr>
          <p:cNvSpPr txBox="1"/>
          <p:nvPr/>
        </p:nvSpPr>
        <p:spPr>
          <a:xfrm>
            <a:off x="422975" y="1359525"/>
            <a:ext cx="868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55600" lvl="0" indent="-35560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✔"/>
            </a:pPr>
            <a:r>
              <a:rPr lang="en-US" altLang="ko-KR" sz="2000" dirty="0" err="1">
                <a:solidFill>
                  <a:srgbClr val="204F55"/>
                </a:solidFill>
              </a:rPr>
              <a:t>CodeBuild</a:t>
            </a:r>
            <a:r>
              <a:rPr lang="en-US" altLang="ko-KR" sz="2000" dirty="0">
                <a:solidFill>
                  <a:srgbClr val="204F55"/>
                </a:solidFill>
              </a:rPr>
              <a:t> : </a:t>
            </a:r>
            <a:r>
              <a:rPr lang="ko-KR" altLang="en-US" sz="2000" dirty="0">
                <a:solidFill>
                  <a:srgbClr val="204F55"/>
                </a:solidFill>
              </a:rPr>
              <a:t>빌드 및 자동 배포</a:t>
            </a:r>
            <a:endParaRPr sz="2000" dirty="0">
              <a:solidFill>
                <a:srgbClr val="204F55"/>
              </a:solidFill>
            </a:endParaRPr>
          </a:p>
        </p:txBody>
      </p:sp>
      <p:pic>
        <p:nvPicPr>
          <p:cNvPr id="141" name="Google Shape;141;p2">
            <a:extLst>
              <a:ext uri="{FF2B5EF4-FFF2-40B4-BE49-F238E27FC236}">
                <a16:creationId xmlns:a16="http://schemas.microsoft.com/office/drawing/2014/main" id="{F2EF5B3D-1607-A06C-EEB7-60C0D741D0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83469" t="10132" r="8257" b="81734"/>
          <a:stretch/>
        </p:blipFill>
        <p:spPr>
          <a:xfrm>
            <a:off x="9471308" y="2447125"/>
            <a:ext cx="983552" cy="302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39;p2">
            <a:extLst>
              <a:ext uri="{FF2B5EF4-FFF2-40B4-BE49-F238E27FC236}">
                <a16:creationId xmlns:a16="http://schemas.microsoft.com/office/drawing/2014/main" id="{BFF596A6-43D8-81CF-288A-FB5270756434}"/>
              </a:ext>
            </a:extLst>
          </p:cNvPr>
          <p:cNvSpPr txBox="1"/>
          <p:nvPr/>
        </p:nvSpPr>
        <p:spPr>
          <a:xfrm>
            <a:off x="785408" y="1852125"/>
            <a:ext cx="868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sz="2000" dirty="0" err="1">
                <a:solidFill>
                  <a:srgbClr val="204F55"/>
                </a:solidFill>
              </a:rPr>
              <a:t>Github</a:t>
            </a:r>
            <a:r>
              <a:rPr lang="ko-KR" altLang="en-US" sz="2000" dirty="0" err="1">
                <a:solidFill>
                  <a:srgbClr val="204F55"/>
                </a:solidFill>
              </a:rPr>
              <a:t>에</a:t>
            </a:r>
            <a:r>
              <a:rPr lang="ko-KR" altLang="en-US" sz="2000" dirty="0">
                <a:solidFill>
                  <a:srgbClr val="204F55"/>
                </a:solidFill>
              </a:rPr>
              <a:t> 코드가 올라오면 자동으로 빌드가 실행되도록 만드는 단계 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E4AD96EC-189A-F97D-1D27-BCE206B0994E}"/>
              </a:ext>
            </a:extLst>
          </p:cNvPr>
          <p:cNvSpPr/>
          <p:nvPr/>
        </p:nvSpPr>
        <p:spPr>
          <a:xfrm>
            <a:off x="422975" y="2688579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Build Stage</a:t>
            </a:r>
            <a:endParaRPr kumimoji="1" lang="ko-KR" altLang="en-US" sz="1600" b="1" dirty="0">
              <a:solidFill>
                <a:schemeClr val="bg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4BFFD2BD-1670-CA99-5FFB-327AD6D5B803}"/>
              </a:ext>
            </a:extLst>
          </p:cNvPr>
          <p:cNvSpPr/>
          <p:nvPr/>
        </p:nvSpPr>
        <p:spPr>
          <a:xfrm>
            <a:off x="1014102" y="3615292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Team-14-test</a:t>
            </a:r>
            <a:endParaRPr kumimoji="1" lang="ko-KR" altLang="en-US" sz="1600" b="1" dirty="0">
              <a:solidFill>
                <a:schemeClr val="bg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E21ACC8F-794F-8ABC-85FB-4BBD7E8F13CF}"/>
              </a:ext>
            </a:extLst>
          </p:cNvPr>
          <p:cNvSpPr/>
          <p:nvPr/>
        </p:nvSpPr>
        <p:spPr>
          <a:xfrm>
            <a:off x="1014102" y="5231789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Build</a:t>
            </a:r>
            <a:endParaRPr kumimoji="1" lang="ko-KR" altLang="en-US" sz="1600" b="1" dirty="0">
              <a:solidFill>
                <a:schemeClr val="bg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1" name="Google Shape;139;p2">
            <a:extLst>
              <a:ext uri="{FF2B5EF4-FFF2-40B4-BE49-F238E27FC236}">
                <a16:creationId xmlns:a16="http://schemas.microsoft.com/office/drawing/2014/main" id="{A7AF3CFB-A91C-84AC-D8C9-ED245D7CBC26}"/>
              </a:ext>
            </a:extLst>
          </p:cNvPr>
          <p:cNvSpPr txBox="1"/>
          <p:nvPr/>
        </p:nvSpPr>
        <p:spPr>
          <a:xfrm rot="5400000">
            <a:off x="2546263" y="3222031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12" name="Google Shape;139;p2">
            <a:extLst>
              <a:ext uri="{FF2B5EF4-FFF2-40B4-BE49-F238E27FC236}">
                <a16:creationId xmlns:a16="http://schemas.microsoft.com/office/drawing/2014/main" id="{CBFB7F6D-5B2A-51A4-C096-B75821E48CBF}"/>
              </a:ext>
            </a:extLst>
          </p:cNvPr>
          <p:cNvSpPr txBox="1"/>
          <p:nvPr/>
        </p:nvSpPr>
        <p:spPr>
          <a:xfrm rot="5400000">
            <a:off x="2546263" y="4825173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16" name="Google Shape;139;p2">
            <a:extLst>
              <a:ext uri="{FF2B5EF4-FFF2-40B4-BE49-F238E27FC236}">
                <a16:creationId xmlns:a16="http://schemas.microsoft.com/office/drawing/2014/main" id="{AB411538-CA35-317C-6B64-B66470390599}"/>
              </a:ext>
            </a:extLst>
          </p:cNvPr>
          <p:cNvSpPr txBox="1"/>
          <p:nvPr/>
        </p:nvSpPr>
        <p:spPr>
          <a:xfrm>
            <a:off x="4451928" y="5231789"/>
            <a:ext cx="7158183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sz="1800" dirty="0">
                <a:solidFill>
                  <a:srgbClr val="204F55"/>
                </a:solidFill>
              </a:rPr>
              <a:t> - </a:t>
            </a:r>
            <a:r>
              <a:rPr lang="en-US" sz="1800" dirty="0" err="1">
                <a:solidFill>
                  <a:srgbClr val="204F55"/>
                </a:solidFill>
              </a:rPr>
              <a:t>CodeBuild</a:t>
            </a:r>
            <a:r>
              <a:rPr lang="en-US" sz="1800" dirty="0">
                <a:solidFill>
                  <a:srgbClr val="204F55"/>
                </a:solidFill>
              </a:rPr>
              <a:t> 2</a:t>
            </a:r>
            <a:r>
              <a:rPr lang="ko-KR" altLang="en-US" sz="1800" dirty="0">
                <a:solidFill>
                  <a:srgbClr val="204F55"/>
                </a:solidFill>
              </a:rPr>
              <a:t> </a:t>
            </a:r>
            <a:r>
              <a:rPr lang="en-US" altLang="ko-KR" sz="1800" dirty="0">
                <a:solidFill>
                  <a:srgbClr val="204F55"/>
                </a:solidFill>
              </a:rPr>
              <a:t>:</a:t>
            </a:r>
            <a:r>
              <a:rPr lang="ko-KR" altLang="en-US" sz="1800" dirty="0">
                <a:solidFill>
                  <a:srgbClr val="204F55"/>
                </a:solidFill>
              </a:rPr>
              <a:t> 배포용 </a:t>
            </a:r>
            <a:r>
              <a:rPr lang="en-US" altLang="ko-KR" sz="1800" dirty="0">
                <a:solidFill>
                  <a:srgbClr val="204F55"/>
                </a:solidFill>
              </a:rPr>
              <a:t>.jar </a:t>
            </a:r>
            <a:r>
              <a:rPr lang="ko-KR" altLang="en-US" sz="1800" dirty="0">
                <a:solidFill>
                  <a:srgbClr val="204F55"/>
                </a:solidFill>
              </a:rPr>
              <a:t>파일 생성 </a:t>
            </a:r>
            <a:r>
              <a:rPr lang="en-US" altLang="ko-KR" sz="1800" dirty="0">
                <a:solidFill>
                  <a:srgbClr val="204F55"/>
                </a:solidFill>
              </a:rPr>
              <a:t>/</a:t>
            </a:r>
            <a:r>
              <a:rPr lang="ko-KR" altLang="en-US" sz="1800" dirty="0">
                <a:solidFill>
                  <a:srgbClr val="204F55"/>
                </a:solidFill>
              </a:rPr>
              <a:t> </a:t>
            </a:r>
            <a:r>
              <a:rPr lang="en-US" altLang="ko-KR" sz="1800" dirty="0">
                <a:solidFill>
                  <a:srgbClr val="204F55"/>
                </a:solidFill>
              </a:rPr>
              <a:t>artifact</a:t>
            </a:r>
            <a:r>
              <a:rPr lang="ko-KR" altLang="en-US" sz="1800" dirty="0">
                <a:solidFill>
                  <a:srgbClr val="204F55"/>
                </a:solidFill>
              </a:rPr>
              <a:t> 파일 생성</a:t>
            </a:r>
            <a:endParaRPr sz="1800" dirty="0">
              <a:solidFill>
                <a:srgbClr val="204F55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E5F3A0-B034-B9CF-A7BB-B23AB17FD8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2974" y="2688465"/>
            <a:ext cx="6889410" cy="21995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3E14DD6-3D4A-EA86-883C-22A9B66595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2353" r="35829"/>
          <a:stretch>
            <a:fillRect/>
          </a:stretch>
        </p:blipFill>
        <p:spPr>
          <a:xfrm>
            <a:off x="4670622" y="4144026"/>
            <a:ext cx="5784238" cy="795627"/>
          </a:xfrm>
          <a:prstGeom prst="rect">
            <a:avLst/>
          </a:prstGeom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01664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/>
          <p:cNvSpPr txBox="1">
            <a:spLocks noGrp="1"/>
          </p:cNvSpPr>
          <p:nvPr>
            <p:ph type="sldNum" idx="12"/>
          </p:nvPr>
        </p:nvSpPr>
        <p:spPr>
          <a:xfrm>
            <a:off x="11469950" y="6492875"/>
            <a:ext cx="5950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12</a:t>
            </a:fld>
            <a:endParaRPr/>
          </a:p>
        </p:txBody>
      </p:sp>
      <p:sp>
        <p:nvSpPr>
          <p:cNvPr id="147" name="Google Shape;147;p4"/>
          <p:cNvSpPr txBox="1">
            <a:spLocks noGrp="1"/>
          </p:cNvSpPr>
          <p:nvPr>
            <p:ph type="title"/>
          </p:nvPr>
        </p:nvSpPr>
        <p:spPr>
          <a:xfrm>
            <a:off x="177800" y="144035"/>
            <a:ext cx="10515600" cy="75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3000"/>
              <a:buFont typeface="Arial"/>
              <a:buNone/>
            </a:pPr>
            <a:r>
              <a:rPr lang="ko-KR" sz="3000" dirty="0"/>
              <a:t>C</a:t>
            </a:r>
            <a:r>
              <a:rPr lang="en-US" altLang="ko-KR" sz="3000" dirty="0"/>
              <a:t>D</a:t>
            </a:r>
            <a:r>
              <a:rPr lang="ko-KR" sz="3000" dirty="0"/>
              <a:t> 환경 구축 :</a:t>
            </a:r>
            <a:r>
              <a:rPr lang="en-US" altLang="ko-KR" sz="3000" dirty="0"/>
              <a:t> </a:t>
            </a:r>
            <a:r>
              <a:rPr lang="en-US" altLang="ko-KR" sz="3000" dirty="0" err="1"/>
              <a:t>CodeDeploy</a:t>
            </a:r>
            <a:r>
              <a:rPr lang="en-US" altLang="ko-KR" sz="3000" dirty="0"/>
              <a:t> </a:t>
            </a:r>
            <a:r>
              <a:rPr lang="ko-KR" altLang="en-US" sz="3000" dirty="0"/>
              <a:t>기반 </a:t>
            </a:r>
            <a:r>
              <a:rPr lang="en-US" altLang="ko-KR" sz="3000" dirty="0"/>
              <a:t>EC2 </a:t>
            </a:r>
            <a:r>
              <a:rPr lang="ko-KR" altLang="en-US" sz="3000" dirty="0"/>
              <a:t>자동 배포</a:t>
            </a:r>
            <a:endParaRPr dirty="0"/>
          </a:p>
        </p:txBody>
      </p:sp>
      <p:sp>
        <p:nvSpPr>
          <p:cNvPr id="148" name="Google Shape;148;p4"/>
          <p:cNvSpPr txBox="1">
            <a:spLocks noGrp="1"/>
          </p:cNvSpPr>
          <p:nvPr>
            <p:ph type="body" idx="1"/>
          </p:nvPr>
        </p:nvSpPr>
        <p:spPr>
          <a:xfrm>
            <a:off x="427038" y="1401763"/>
            <a:ext cx="11241221" cy="537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56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✔"/>
            </a:pPr>
            <a:r>
              <a:rPr lang="en-US" sz="2000" b="0" dirty="0" err="1"/>
              <a:t>CodeBuild</a:t>
            </a:r>
            <a:r>
              <a:rPr lang="ko-KR" altLang="en-US" sz="2000" b="0" dirty="0"/>
              <a:t>에서 생성된 </a:t>
            </a:r>
            <a:r>
              <a:rPr lang="en-US" altLang="ko-KR" sz="2000" b="0" dirty="0"/>
              <a:t>Artifact</a:t>
            </a:r>
            <a:r>
              <a:rPr lang="ko-KR" altLang="en-US" sz="2000" b="0" dirty="0"/>
              <a:t>들로 실제 </a:t>
            </a:r>
            <a:r>
              <a:rPr lang="en-US" altLang="ko-KR" sz="2000" b="0" dirty="0"/>
              <a:t>EC2 </a:t>
            </a:r>
            <a:r>
              <a:rPr lang="ko-KR" altLang="en-US" sz="2000" b="0" dirty="0"/>
              <a:t>서버에 배포하는 단계</a:t>
            </a:r>
            <a:endParaRPr sz="2000" b="0" dirty="0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5CECC030-80C0-7F1B-DB79-1B19E8A5A7FC}"/>
              </a:ext>
            </a:extLst>
          </p:cNvPr>
          <p:cNvSpPr/>
          <p:nvPr/>
        </p:nvSpPr>
        <p:spPr>
          <a:xfrm>
            <a:off x="1452273" y="2712579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err="1">
                <a:solidFill>
                  <a:schemeClr val="bg2">
                    <a:lumMod val="90000"/>
                    <a:lumOff val="10000"/>
                  </a:schemeClr>
                </a:solidFill>
              </a:rPr>
              <a:t>CodeDeploy</a:t>
            </a:r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가 </a:t>
            </a:r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EC2</a:t>
            </a:r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로 전달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D71EAFD2-6A40-BD15-FF27-603651E41E15}"/>
              </a:ext>
            </a:extLst>
          </p:cNvPr>
          <p:cNvSpPr/>
          <p:nvPr/>
        </p:nvSpPr>
        <p:spPr>
          <a:xfrm>
            <a:off x="1452273" y="3515801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/home/ec2-user/app</a:t>
            </a:r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 경로에 복사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CDDE68AA-4D71-AEAC-CE8B-7B36B55D69C7}"/>
              </a:ext>
            </a:extLst>
          </p:cNvPr>
          <p:cNvSpPr/>
          <p:nvPr/>
        </p:nvSpPr>
        <p:spPr>
          <a:xfrm>
            <a:off x="1452273" y="4319023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.</a:t>
            </a:r>
            <a:r>
              <a:rPr kumimoji="1" lang="en-US" altLang="ko-KR" sz="1600" b="1" dirty="0" err="1">
                <a:solidFill>
                  <a:schemeClr val="bg2">
                    <a:lumMod val="90000"/>
                    <a:lumOff val="10000"/>
                  </a:schemeClr>
                </a:solidFill>
              </a:rPr>
              <a:t>sh</a:t>
            </a:r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 </a:t>
            </a:r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파일들 실행</a:t>
            </a:r>
          </a:p>
        </p:txBody>
      </p:sp>
      <p:sp>
        <p:nvSpPr>
          <p:cNvPr id="10" name="Google Shape;139;p2">
            <a:extLst>
              <a:ext uri="{FF2B5EF4-FFF2-40B4-BE49-F238E27FC236}">
                <a16:creationId xmlns:a16="http://schemas.microsoft.com/office/drawing/2014/main" id="{6330261B-5ADF-41F3-FB17-26EFF9BEEB32}"/>
              </a:ext>
            </a:extLst>
          </p:cNvPr>
          <p:cNvSpPr txBox="1"/>
          <p:nvPr/>
        </p:nvSpPr>
        <p:spPr>
          <a:xfrm rot="5400000">
            <a:off x="2984434" y="2319318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11" name="Google Shape;139;p2">
            <a:extLst>
              <a:ext uri="{FF2B5EF4-FFF2-40B4-BE49-F238E27FC236}">
                <a16:creationId xmlns:a16="http://schemas.microsoft.com/office/drawing/2014/main" id="{5323FC71-739A-19AA-E2E3-3E530251834A}"/>
              </a:ext>
            </a:extLst>
          </p:cNvPr>
          <p:cNvSpPr txBox="1"/>
          <p:nvPr/>
        </p:nvSpPr>
        <p:spPr>
          <a:xfrm rot="5400000">
            <a:off x="2984434" y="3109185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12" name="Google Shape;139;p2">
            <a:extLst>
              <a:ext uri="{FF2B5EF4-FFF2-40B4-BE49-F238E27FC236}">
                <a16:creationId xmlns:a16="http://schemas.microsoft.com/office/drawing/2014/main" id="{8E1C862C-457E-5F92-DDC8-949272123A3E}"/>
              </a:ext>
            </a:extLst>
          </p:cNvPr>
          <p:cNvSpPr txBox="1"/>
          <p:nvPr/>
        </p:nvSpPr>
        <p:spPr>
          <a:xfrm rot="5400000">
            <a:off x="2984434" y="3899052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EFB77A75-78F6-3017-8D12-AC7B214A3194}"/>
              </a:ext>
            </a:extLst>
          </p:cNvPr>
          <p:cNvSpPr/>
          <p:nvPr/>
        </p:nvSpPr>
        <p:spPr>
          <a:xfrm>
            <a:off x="1452273" y="5235258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Spring Boot </a:t>
            </a:r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서버 실행 확인</a:t>
            </a:r>
          </a:p>
        </p:txBody>
      </p:sp>
      <p:sp>
        <p:nvSpPr>
          <p:cNvPr id="15" name="Google Shape;139;p2">
            <a:extLst>
              <a:ext uri="{FF2B5EF4-FFF2-40B4-BE49-F238E27FC236}">
                <a16:creationId xmlns:a16="http://schemas.microsoft.com/office/drawing/2014/main" id="{B5874788-FBDD-D06C-7297-047CC7E296B9}"/>
              </a:ext>
            </a:extLst>
          </p:cNvPr>
          <p:cNvSpPr txBox="1"/>
          <p:nvPr/>
        </p:nvSpPr>
        <p:spPr>
          <a:xfrm rot="5400000">
            <a:off x="2984434" y="4815287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132CE9B-6F78-823B-7098-E2C3C6E510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39" r="4867" b="5528"/>
          <a:stretch>
            <a:fillRect/>
          </a:stretch>
        </p:blipFill>
        <p:spPr>
          <a:xfrm>
            <a:off x="6235173" y="2563499"/>
            <a:ext cx="4005750" cy="287522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9625965-65C9-CD39-2EE0-FAF0E82EC4EA}"/>
              </a:ext>
            </a:extLst>
          </p:cNvPr>
          <p:cNvSpPr txBox="1"/>
          <p:nvPr/>
        </p:nvSpPr>
        <p:spPr>
          <a:xfrm>
            <a:off x="1653164" y="2098886"/>
            <a:ext cx="2951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app.jar</a:t>
            </a:r>
            <a:r>
              <a:rPr lang="en-US" altLang="ko-KR" dirty="0"/>
              <a:t>, </a:t>
            </a:r>
            <a:r>
              <a:rPr lang="en-US" altLang="ko-KR" dirty="0" err="1"/>
              <a:t>appspec.yml</a:t>
            </a:r>
            <a:r>
              <a:rPr lang="en-US" altLang="ko-KR" dirty="0"/>
              <a:t>, scripts)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E4A07DD3-6A46-3728-5AB5-17EDCEEA6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>
            <a:extLst>
              <a:ext uri="{FF2B5EF4-FFF2-40B4-BE49-F238E27FC236}">
                <a16:creationId xmlns:a16="http://schemas.microsoft.com/office/drawing/2014/main" id="{6FF0BCA5-BCC5-8B60-D468-95269FF475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69950" y="6492875"/>
            <a:ext cx="5950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13</a:t>
            </a:fld>
            <a:endParaRPr/>
          </a:p>
        </p:txBody>
      </p:sp>
      <p:sp>
        <p:nvSpPr>
          <p:cNvPr id="147" name="Google Shape;147;p4">
            <a:extLst>
              <a:ext uri="{FF2B5EF4-FFF2-40B4-BE49-F238E27FC236}">
                <a16:creationId xmlns:a16="http://schemas.microsoft.com/office/drawing/2014/main" id="{C99C06A0-DAE0-B5B3-9811-279FC52FD8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800" y="144035"/>
            <a:ext cx="10515600" cy="75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3000"/>
              <a:buFont typeface="Arial"/>
              <a:buNone/>
            </a:pPr>
            <a:r>
              <a:rPr lang="ko-KR" sz="3000" dirty="0"/>
              <a:t>C</a:t>
            </a:r>
            <a:r>
              <a:rPr lang="en-US" altLang="ko-KR" sz="3000" dirty="0"/>
              <a:t>D</a:t>
            </a:r>
            <a:r>
              <a:rPr lang="ko-KR" sz="3000" dirty="0"/>
              <a:t> 환경 구축 :</a:t>
            </a:r>
            <a:r>
              <a:rPr lang="en-US" altLang="ko-KR" sz="3000" dirty="0"/>
              <a:t> </a:t>
            </a:r>
            <a:r>
              <a:rPr lang="en-US" altLang="ko-KR" sz="3000" dirty="0" err="1"/>
              <a:t>CodeDeploy</a:t>
            </a:r>
            <a:r>
              <a:rPr lang="en-US" altLang="ko-KR" sz="3000" dirty="0"/>
              <a:t> </a:t>
            </a:r>
            <a:r>
              <a:rPr lang="ko-KR" altLang="en-US" sz="3000" dirty="0"/>
              <a:t>기반 </a:t>
            </a:r>
            <a:r>
              <a:rPr lang="en-US" altLang="ko-KR" sz="3000" dirty="0"/>
              <a:t>EC2 </a:t>
            </a:r>
            <a:r>
              <a:rPr lang="ko-KR" altLang="en-US" sz="3000" dirty="0"/>
              <a:t>자동 배포</a:t>
            </a:r>
            <a:endParaRPr dirty="0"/>
          </a:p>
        </p:txBody>
      </p:sp>
      <p:sp>
        <p:nvSpPr>
          <p:cNvPr id="148" name="Google Shape;148;p4">
            <a:extLst>
              <a:ext uri="{FF2B5EF4-FFF2-40B4-BE49-F238E27FC236}">
                <a16:creationId xmlns:a16="http://schemas.microsoft.com/office/drawing/2014/main" id="{0A2FB86E-EFF7-E6D9-76C8-83AF45FF45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7038" y="1401763"/>
            <a:ext cx="11241221" cy="537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56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✔"/>
            </a:pPr>
            <a:r>
              <a:rPr lang="en-US" sz="2000" b="0" dirty="0" err="1"/>
              <a:t>CodeBuild</a:t>
            </a:r>
            <a:r>
              <a:rPr lang="ko-KR" altLang="en-US" sz="2000" b="0" dirty="0"/>
              <a:t>에서 생성된 </a:t>
            </a:r>
            <a:r>
              <a:rPr lang="en-US" altLang="ko-KR" sz="2000" b="0" dirty="0"/>
              <a:t>Artifact</a:t>
            </a:r>
            <a:r>
              <a:rPr lang="ko-KR" altLang="en-US" sz="2000" b="0" dirty="0"/>
              <a:t>들로 실제 </a:t>
            </a:r>
            <a:r>
              <a:rPr lang="en-US" altLang="ko-KR" sz="2000" b="0" dirty="0"/>
              <a:t>EC2 </a:t>
            </a:r>
            <a:r>
              <a:rPr lang="ko-KR" altLang="en-US" sz="2000" b="0" dirty="0"/>
              <a:t>서버에 배포하는 단계</a:t>
            </a:r>
            <a:endParaRPr sz="2000" b="0" dirty="0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10A0E61A-96A2-78A1-3785-EF8654F8E81F}"/>
              </a:ext>
            </a:extLst>
          </p:cNvPr>
          <p:cNvSpPr/>
          <p:nvPr/>
        </p:nvSpPr>
        <p:spPr>
          <a:xfrm>
            <a:off x="1452273" y="4132237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/home/ec2-user/app</a:t>
            </a:r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 경로에 복사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50E747AF-F142-96C1-A3BD-276E96F026B8}"/>
              </a:ext>
            </a:extLst>
          </p:cNvPr>
          <p:cNvSpPr/>
          <p:nvPr/>
        </p:nvSpPr>
        <p:spPr>
          <a:xfrm>
            <a:off x="1452273" y="4935459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.</a:t>
            </a:r>
            <a:r>
              <a:rPr kumimoji="1" lang="en-US" altLang="ko-KR" sz="1600" b="1" dirty="0" err="1">
                <a:solidFill>
                  <a:schemeClr val="bg2">
                    <a:lumMod val="90000"/>
                    <a:lumOff val="10000"/>
                  </a:schemeClr>
                </a:solidFill>
              </a:rPr>
              <a:t>sh</a:t>
            </a:r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 </a:t>
            </a:r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파일들 실행</a:t>
            </a:r>
          </a:p>
        </p:txBody>
      </p:sp>
      <p:sp>
        <p:nvSpPr>
          <p:cNvPr id="10" name="Google Shape;139;p2">
            <a:extLst>
              <a:ext uri="{FF2B5EF4-FFF2-40B4-BE49-F238E27FC236}">
                <a16:creationId xmlns:a16="http://schemas.microsoft.com/office/drawing/2014/main" id="{3A465652-D127-94A5-64D0-086D1CCF1432}"/>
              </a:ext>
            </a:extLst>
          </p:cNvPr>
          <p:cNvSpPr txBox="1"/>
          <p:nvPr/>
        </p:nvSpPr>
        <p:spPr>
          <a:xfrm rot="5400000">
            <a:off x="2984434" y="2319318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11" name="Google Shape;139;p2">
            <a:extLst>
              <a:ext uri="{FF2B5EF4-FFF2-40B4-BE49-F238E27FC236}">
                <a16:creationId xmlns:a16="http://schemas.microsoft.com/office/drawing/2014/main" id="{40857566-879F-CFD5-9CF3-1AB9DAB9F542}"/>
              </a:ext>
            </a:extLst>
          </p:cNvPr>
          <p:cNvSpPr txBox="1"/>
          <p:nvPr/>
        </p:nvSpPr>
        <p:spPr>
          <a:xfrm rot="5400000">
            <a:off x="2984434" y="3725621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12" name="Google Shape;139;p2">
            <a:extLst>
              <a:ext uri="{FF2B5EF4-FFF2-40B4-BE49-F238E27FC236}">
                <a16:creationId xmlns:a16="http://schemas.microsoft.com/office/drawing/2014/main" id="{B5A54AEA-4DBD-10DC-CAD5-A1F4547F9523}"/>
              </a:ext>
            </a:extLst>
          </p:cNvPr>
          <p:cNvSpPr txBox="1"/>
          <p:nvPr/>
        </p:nvSpPr>
        <p:spPr>
          <a:xfrm rot="5400000">
            <a:off x="2984434" y="4515488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1DBFC02F-5023-B9C6-10C1-5D8F8DD9FD77}"/>
              </a:ext>
            </a:extLst>
          </p:cNvPr>
          <p:cNvSpPr/>
          <p:nvPr/>
        </p:nvSpPr>
        <p:spPr>
          <a:xfrm>
            <a:off x="1452273" y="5851694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Spring Boot </a:t>
            </a:r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서버 실행 확인</a:t>
            </a:r>
          </a:p>
        </p:txBody>
      </p:sp>
      <p:sp>
        <p:nvSpPr>
          <p:cNvPr id="15" name="Google Shape;139;p2">
            <a:extLst>
              <a:ext uri="{FF2B5EF4-FFF2-40B4-BE49-F238E27FC236}">
                <a16:creationId xmlns:a16="http://schemas.microsoft.com/office/drawing/2014/main" id="{A036B4F1-E8B9-669C-C33C-6D7547251FE8}"/>
              </a:ext>
            </a:extLst>
          </p:cNvPr>
          <p:cNvSpPr txBox="1"/>
          <p:nvPr/>
        </p:nvSpPr>
        <p:spPr>
          <a:xfrm rot="5400000">
            <a:off x="2984434" y="5431723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617859F-E42C-84DE-CBBB-5D4038B022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39" r="4867" b="5528"/>
          <a:stretch>
            <a:fillRect/>
          </a:stretch>
        </p:blipFill>
        <p:spPr>
          <a:xfrm>
            <a:off x="6235173" y="2563499"/>
            <a:ext cx="4005750" cy="287522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E8D5862-16F2-A9F5-4DFF-42CA6EC15590}"/>
              </a:ext>
            </a:extLst>
          </p:cNvPr>
          <p:cNvSpPr txBox="1"/>
          <p:nvPr/>
        </p:nvSpPr>
        <p:spPr>
          <a:xfrm>
            <a:off x="1653164" y="2098886"/>
            <a:ext cx="2951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app.jar</a:t>
            </a:r>
            <a:r>
              <a:rPr lang="en-US" altLang="ko-KR" dirty="0"/>
              <a:t>, </a:t>
            </a:r>
            <a:r>
              <a:rPr lang="en-US" altLang="ko-KR" dirty="0" err="1"/>
              <a:t>appspec.yml</a:t>
            </a:r>
            <a:r>
              <a:rPr lang="en-US" altLang="ko-KR" dirty="0"/>
              <a:t>, scripts)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114A58AB-B1A1-E198-2DF9-40FC192C5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0" y="2252774"/>
            <a:ext cx="5410200" cy="330200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4241F4E8-B7E6-2350-D229-0401DCA853F3}"/>
              </a:ext>
            </a:extLst>
          </p:cNvPr>
          <p:cNvGrpSpPr/>
          <p:nvPr/>
        </p:nvGrpSpPr>
        <p:grpSpPr>
          <a:xfrm>
            <a:off x="5401081" y="4507915"/>
            <a:ext cx="5444719" cy="818865"/>
            <a:chOff x="3045791" y="4537579"/>
            <a:chExt cx="5094910" cy="766255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B3D28A8F-5D6F-2C13-930F-D5075A2B6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72380" r="33311" b="11331"/>
            <a:stretch>
              <a:fillRect/>
            </a:stretch>
          </p:blipFill>
          <p:spPr>
            <a:xfrm>
              <a:off x="3045791" y="4537579"/>
              <a:ext cx="5094910" cy="759538"/>
            </a:xfrm>
            <a:prstGeom prst="rect">
              <a:avLst/>
            </a:prstGeom>
            <a:ln w="38100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DE3B982A-6D5A-7F6C-2C03-F51A8E1403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4737" t="72380" b="11331"/>
            <a:stretch>
              <a:fillRect/>
            </a:stretch>
          </p:blipFill>
          <p:spPr>
            <a:xfrm>
              <a:off x="6974609" y="4544296"/>
              <a:ext cx="1166091" cy="759538"/>
            </a:xfrm>
            <a:prstGeom prst="rect">
              <a:avLst/>
            </a:prstGeom>
            <a:ln w="3810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899BA284-603F-6F5B-AF71-323E8C9E181F}"/>
              </a:ext>
            </a:extLst>
          </p:cNvPr>
          <p:cNvSpPr/>
          <p:nvPr/>
        </p:nvSpPr>
        <p:spPr>
          <a:xfrm>
            <a:off x="911516" y="2776916"/>
            <a:ext cx="4434313" cy="1001036"/>
          </a:xfrm>
          <a:prstGeom prst="roundRect">
            <a:avLst/>
          </a:prstGeom>
          <a:solidFill>
            <a:schemeClr val="bg2">
              <a:lumMod val="25000"/>
              <a:lumOff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err="1">
                <a:solidFill>
                  <a:schemeClr val="bg2">
                    <a:lumMod val="90000"/>
                    <a:lumOff val="10000"/>
                  </a:schemeClr>
                </a:solidFill>
              </a:rPr>
              <a:t>CodeDeploy</a:t>
            </a:r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가 </a:t>
            </a:r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EC2</a:t>
            </a:r>
            <a:r>
              <a:rPr kumimoji="1" lang="ko-KR" altLang="en-US" sz="1600" b="1" dirty="0" err="1">
                <a:solidFill>
                  <a:schemeClr val="bg2">
                    <a:lumMod val="90000"/>
                    <a:lumOff val="10000"/>
                  </a:schemeClr>
                </a:solidFill>
              </a:rPr>
              <a:t>에</a:t>
            </a:r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 전달</a:t>
            </a:r>
          </a:p>
        </p:txBody>
      </p:sp>
    </p:spTree>
    <p:extLst>
      <p:ext uri="{BB962C8B-B14F-4D97-AF65-F5344CB8AC3E}">
        <p14:creationId xmlns:p14="http://schemas.microsoft.com/office/powerpoint/2010/main" val="774257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616431EC-6C6C-8C30-5471-6FDE2C279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>
            <a:extLst>
              <a:ext uri="{FF2B5EF4-FFF2-40B4-BE49-F238E27FC236}">
                <a16:creationId xmlns:a16="http://schemas.microsoft.com/office/drawing/2014/main" id="{EF9FC7F5-BDD1-3253-045F-FB1AF70B4D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69950" y="6492875"/>
            <a:ext cx="5950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14</a:t>
            </a:fld>
            <a:endParaRPr/>
          </a:p>
        </p:txBody>
      </p:sp>
      <p:sp>
        <p:nvSpPr>
          <p:cNvPr id="147" name="Google Shape;147;p4">
            <a:extLst>
              <a:ext uri="{FF2B5EF4-FFF2-40B4-BE49-F238E27FC236}">
                <a16:creationId xmlns:a16="http://schemas.microsoft.com/office/drawing/2014/main" id="{8A73D684-5964-3A36-D84B-6C2E6F97D4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800" y="144035"/>
            <a:ext cx="10515600" cy="75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3000"/>
              <a:buFont typeface="Arial"/>
              <a:buNone/>
            </a:pPr>
            <a:r>
              <a:rPr lang="ko-KR" sz="3000" dirty="0"/>
              <a:t>C</a:t>
            </a:r>
            <a:r>
              <a:rPr lang="en-US" altLang="ko-KR" sz="3000" dirty="0"/>
              <a:t>D</a:t>
            </a:r>
            <a:r>
              <a:rPr lang="ko-KR" sz="3000" dirty="0"/>
              <a:t> 환경 구축 :</a:t>
            </a:r>
            <a:r>
              <a:rPr lang="en-US" altLang="ko-KR" sz="3000" dirty="0"/>
              <a:t> </a:t>
            </a:r>
            <a:r>
              <a:rPr lang="en-US" altLang="ko-KR" sz="3000" dirty="0" err="1"/>
              <a:t>CodeDeploy</a:t>
            </a:r>
            <a:r>
              <a:rPr lang="en-US" altLang="ko-KR" sz="3000" dirty="0"/>
              <a:t> </a:t>
            </a:r>
            <a:r>
              <a:rPr lang="ko-KR" altLang="en-US" sz="3000" dirty="0"/>
              <a:t>기반 </a:t>
            </a:r>
            <a:r>
              <a:rPr lang="en-US" altLang="ko-KR" sz="3000" dirty="0"/>
              <a:t>EC2 </a:t>
            </a:r>
            <a:r>
              <a:rPr lang="ko-KR" altLang="en-US" sz="3000" dirty="0"/>
              <a:t>자동 배포</a:t>
            </a:r>
            <a:endParaRPr dirty="0"/>
          </a:p>
        </p:txBody>
      </p:sp>
      <p:sp>
        <p:nvSpPr>
          <p:cNvPr id="148" name="Google Shape;148;p4">
            <a:extLst>
              <a:ext uri="{FF2B5EF4-FFF2-40B4-BE49-F238E27FC236}">
                <a16:creationId xmlns:a16="http://schemas.microsoft.com/office/drawing/2014/main" id="{648004B6-00B0-2BD1-A8D8-5B8DC95887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7038" y="1401763"/>
            <a:ext cx="11241221" cy="537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56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✔"/>
            </a:pPr>
            <a:r>
              <a:rPr lang="en-US" sz="2000" b="0" dirty="0" err="1"/>
              <a:t>CodeBuild</a:t>
            </a:r>
            <a:r>
              <a:rPr lang="ko-KR" altLang="en-US" sz="2000" b="0" dirty="0"/>
              <a:t>에서 생성된 </a:t>
            </a:r>
            <a:r>
              <a:rPr lang="en-US" altLang="ko-KR" sz="2000" b="0" dirty="0"/>
              <a:t>Artifact</a:t>
            </a:r>
            <a:r>
              <a:rPr lang="ko-KR" altLang="en-US" sz="2000" b="0" dirty="0"/>
              <a:t>들로 실제 </a:t>
            </a:r>
            <a:r>
              <a:rPr lang="en-US" altLang="ko-KR" sz="2000" b="0" dirty="0"/>
              <a:t>EC2 </a:t>
            </a:r>
            <a:r>
              <a:rPr lang="ko-KR" altLang="en-US" sz="2000" b="0" dirty="0"/>
              <a:t>서버에 배포하는 단계</a:t>
            </a:r>
            <a:endParaRPr sz="2000" b="0" dirty="0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66023DEF-C561-2BC0-3FA8-57DED7564A02}"/>
              </a:ext>
            </a:extLst>
          </p:cNvPr>
          <p:cNvSpPr/>
          <p:nvPr/>
        </p:nvSpPr>
        <p:spPr>
          <a:xfrm>
            <a:off x="1452273" y="2712579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err="1">
                <a:solidFill>
                  <a:schemeClr val="bg2">
                    <a:lumMod val="90000"/>
                    <a:lumOff val="10000"/>
                  </a:schemeClr>
                </a:solidFill>
              </a:rPr>
              <a:t>CodeDeploy</a:t>
            </a:r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가 </a:t>
            </a:r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EC2</a:t>
            </a:r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로 전달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99EFB8E5-6472-7B70-466D-FCB03CCF2094}"/>
              </a:ext>
            </a:extLst>
          </p:cNvPr>
          <p:cNvSpPr/>
          <p:nvPr/>
        </p:nvSpPr>
        <p:spPr>
          <a:xfrm>
            <a:off x="1452273" y="3515801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/home/ec2-user/app</a:t>
            </a:r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 경로에 복사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BD0E6CE8-0C7E-8559-CE18-98EE87662DD6}"/>
              </a:ext>
            </a:extLst>
          </p:cNvPr>
          <p:cNvSpPr/>
          <p:nvPr/>
        </p:nvSpPr>
        <p:spPr>
          <a:xfrm>
            <a:off x="1452273" y="4808550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.</a:t>
            </a:r>
            <a:r>
              <a:rPr kumimoji="1" lang="en-US" altLang="ko-KR" sz="1600" b="1" dirty="0" err="1">
                <a:solidFill>
                  <a:schemeClr val="bg2">
                    <a:lumMod val="90000"/>
                    <a:lumOff val="10000"/>
                  </a:schemeClr>
                </a:solidFill>
              </a:rPr>
              <a:t>sh</a:t>
            </a:r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 </a:t>
            </a:r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파일들 실행</a:t>
            </a:r>
          </a:p>
        </p:txBody>
      </p:sp>
      <p:sp>
        <p:nvSpPr>
          <p:cNvPr id="10" name="Google Shape;139;p2">
            <a:extLst>
              <a:ext uri="{FF2B5EF4-FFF2-40B4-BE49-F238E27FC236}">
                <a16:creationId xmlns:a16="http://schemas.microsoft.com/office/drawing/2014/main" id="{E5E57D6B-A125-CACB-23B7-829D593DAB54}"/>
              </a:ext>
            </a:extLst>
          </p:cNvPr>
          <p:cNvSpPr txBox="1"/>
          <p:nvPr/>
        </p:nvSpPr>
        <p:spPr>
          <a:xfrm rot="5400000">
            <a:off x="2984434" y="2319318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11" name="Google Shape;139;p2">
            <a:extLst>
              <a:ext uri="{FF2B5EF4-FFF2-40B4-BE49-F238E27FC236}">
                <a16:creationId xmlns:a16="http://schemas.microsoft.com/office/drawing/2014/main" id="{BE8C58EC-9D96-ED52-C43A-B10446C7CE6E}"/>
              </a:ext>
            </a:extLst>
          </p:cNvPr>
          <p:cNvSpPr txBox="1"/>
          <p:nvPr/>
        </p:nvSpPr>
        <p:spPr>
          <a:xfrm rot="5400000">
            <a:off x="2984434" y="3109185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12" name="Google Shape;139;p2">
            <a:extLst>
              <a:ext uri="{FF2B5EF4-FFF2-40B4-BE49-F238E27FC236}">
                <a16:creationId xmlns:a16="http://schemas.microsoft.com/office/drawing/2014/main" id="{65D0A8BA-14E1-03D9-23E1-36B2FFC6311C}"/>
              </a:ext>
            </a:extLst>
          </p:cNvPr>
          <p:cNvSpPr txBox="1"/>
          <p:nvPr/>
        </p:nvSpPr>
        <p:spPr>
          <a:xfrm rot="5400000">
            <a:off x="2984434" y="4388579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2687E2E7-99CB-5674-AE14-FC5E1A451276}"/>
              </a:ext>
            </a:extLst>
          </p:cNvPr>
          <p:cNvSpPr/>
          <p:nvPr/>
        </p:nvSpPr>
        <p:spPr>
          <a:xfrm>
            <a:off x="1452273" y="5724785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Spring Boot </a:t>
            </a:r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서버 실행 확인</a:t>
            </a:r>
          </a:p>
        </p:txBody>
      </p:sp>
      <p:sp>
        <p:nvSpPr>
          <p:cNvPr id="15" name="Google Shape;139;p2">
            <a:extLst>
              <a:ext uri="{FF2B5EF4-FFF2-40B4-BE49-F238E27FC236}">
                <a16:creationId xmlns:a16="http://schemas.microsoft.com/office/drawing/2014/main" id="{D7C5F40D-57A9-A8B9-7BE6-5D5F152FE5AA}"/>
              </a:ext>
            </a:extLst>
          </p:cNvPr>
          <p:cNvSpPr txBox="1"/>
          <p:nvPr/>
        </p:nvSpPr>
        <p:spPr>
          <a:xfrm rot="5400000">
            <a:off x="2984434" y="5304814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8B6391-E0A0-BE05-1BB2-DADE2E319693}"/>
              </a:ext>
            </a:extLst>
          </p:cNvPr>
          <p:cNvSpPr txBox="1"/>
          <p:nvPr/>
        </p:nvSpPr>
        <p:spPr>
          <a:xfrm>
            <a:off x="1653164" y="2098886"/>
            <a:ext cx="2951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app.jar</a:t>
            </a:r>
            <a:r>
              <a:rPr lang="en-US" altLang="ko-KR" dirty="0"/>
              <a:t>, </a:t>
            </a:r>
            <a:r>
              <a:rPr lang="en-US" altLang="ko-KR" dirty="0" err="1"/>
              <a:t>appspec.yml</a:t>
            </a:r>
            <a:r>
              <a:rPr lang="en-US" altLang="ko-KR" dirty="0"/>
              <a:t>, scripts)</a:t>
            </a: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0F4624FB-0459-DC92-75FF-F66803B9B222}"/>
              </a:ext>
            </a:extLst>
          </p:cNvPr>
          <p:cNvSpPr/>
          <p:nvPr/>
        </p:nvSpPr>
        <p:spPr>
          <a:xfrm>
            <a:off x="1001287" y="3506912"/>
            <a:ext cx="4434313" cy="1001036"/>
          </a:xfrm>
          <a:prstGeom prst="roundRect">
            <a:avLst/>
          </a:prstGeom>
          <a:solidFill>
            <a:schemeClr val="bg2">
              <a:lumMod val="25000"/>
              <a:lumOff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/home/ec2-user/app</a:t>
            </a:r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 경로에 복사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869F47B-5C92-DDAA-6CAC-706DAD900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500" y="1939636"/>
            <a:ext cx="3028668" cy="434109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76756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C3FB9C52-87D2-4BEB-2A03-0C28A3893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>
            <a:extLst>
              <a:ext uri="{FF2B5EF4-FFF2-40B4-BE49-F238E27FC236}">
                <a16:creationId xmlns:a16="http://schemas.microsoft.com/office/drawing/2014/main" id="{E4043A91-628B-F22A-6B46-F74650379B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69950" y="6492875"/>
            <a:ext cx="5950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15</a:t>
            </a:fld>
            <a:endParaRPr/>
          </a:p>
        </p:txBody>
      </p:sp>
      <p:sp>
        <p:nvSpPr>
          <p:cNvPr id="147" name="Google Shape;147;p4">
            <a:extLst>
              <a:ext uri="{FF2B5EF4-FFF2-40B4-BE49-F238E27FC236}">
                <a16:creationId xmlns:a16="http://schemas.microsoft.com/office/drawing/2014/main" id="{F9F7C98F-9E2C-EF3D-51D0-448F6EEBCD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800" y="144035"/>
            <a:ext cx="10515600" cy="75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3000"/>
              <a:buFont typeface="Arial"/>
              <a:buNone/>
            </a:pPr>
            <a:r>
              <a:rPr lang="ko-KR" sz="3000" dirty="0"/>
              <a:t>C</a:t>
            </a:r>
            <a:r>
              <a:rPr lang="en-US" altLang="ko-KR" sz="3000" dirty="0"/>
              <a:t>D</a:t>
            </a:r>
            <a:r>
              <a:rPr lang="ko-KR" sz="3000" dirty="0"/>
              <a:t> 환경 구축 :</a:t>
            </a:r>
            <a:r>
              <a:rPr lang="en-US" altLang="ko-KR" sz="3000" dirty="0"/>
              <a:t> </a:t>
            </a:r>
            <a:r>
              <a:rPr lang="en-US" altLang="ko-KR" sz="3000" dirty="0" err="1"/>
              <a:t>CodeDeploy</a:t>
            </a:r>
            <a:r>
              <a:rPr lang="en-US" altLang="ko-KR" sz="3000" dirty="0"/>
              <a:t> </a:t>
            </a:r>
            <a:r>
              <a:rPr lang="ko-KR" altLang="en-US" sz="3000" dirty="0"/>
              <a:t>기반 </a:t>
            </a:r>
            <a:r>
              <a:rPr lang="en-US" altLang="ko-KR" sz="3000" dirty="0"/>
              <a:t>EC2 </a:t>
            </a:r>
            <a:r>
              <a:rPr lang="ko-KR" altLang="en-US" sz="3000" dirty="0"/>
              <a:t>자동 배포</a:t>
            </a:r>
            <a:endParaRPr dirty="0"/>
          </a:p>
        </p:txBody>
      </p:sp>
      <p:sp>
        <p:nvSpPr>
          <p:cNvPr id="148" name="Google Shape;148;p4">
            <a:extLst>
              <a:ext uri="{FF2B5EF4-FFF2-40B4-BE49-F238E27FC236}">
                <a16:creationId xmlns:a16="http://schemas.microsoft.com/office/drawing/2014/main" id="{40C89FFC-487B-28CB-46B5-6955F6676C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7038" y="1401763"/>
            <a:ext cx="11241221" cy="537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56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✔"/>
            </a:pPr>
            <a:r>
              <a:rPr lang="en-US" sz="2000" b="0" dirty="0" err="1"/>
              <a:t>CodeBuild</a:t>
            </a:r>
            <a:r>
              <a:rPr lang="ko-KR" altLang="en-US" sz="2000" b="0" dirty="0"/>
              <a:t>에서 생성된 </a:t>
            </a:r>
            <a:r>
              <a:rPr lang="en-US" altLang="ko-KR" sz="2000" b="0" dirty="0"/>
              <a:t>Artifact</a:t>
            </a:r>
            <a:r>
              <a:rPr lang="ko-KR" altLang="en-US" sz="2000" b="0" dirty="0"/>
              <a:t>들로 실제 </a:t>
            </a:r>
            <a:r>
              <a:rPr lang="en-US" altLang="ko-KR" sz="2000" b="0" dirty="0"/>
              <a:t>EC2 </a:t>
            </a:r>
            <a:r>
              <a:rPr lang="ko-KR" altLang="en-US" sz="2000" b="0" dirty="0"/>
              <a:t>서버에 배포하는 단계</a:t>
            </a:r>
            <a:endParaRPr sz="2000" b="0" dirty="0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131BB49C-D6B4-39E0-AF1D-47B064486679}"/>
              </a:ext>
            </a:extLst>
          </p:cNvPr>
          <p:cNvGrpSpPr/>
          <p:nvPr/>
        </p:nvGrpSpPr>
        <p:grpSpPr>
          <a:xfrm>
            <a:off x="643661" y="2290618"/>
            <a:ext cx="3345621" cy="3257566"/>
            <a:chOff x="643661" y="2290618"/>
            <a:chExt cx="3345621" cy="3257566"/>
          </a:xfrm>
        </p:grpSpPr>
        <p:sp>
          <p:nvSpPr>
            <p:cNvPr id="7" name="모서리가 둥근 직사각형 6">
              <a:extLst>
                <a:ext uri="{FF2B5EF4-FFF2-40B4-BE49-F238E27FC236}">
                  <a16:creationId xmlns:a16="http://schemas.microsoft.com/office/drawing/2014/main" id="{941A7272-8F70-AAF5-0554-94D0DB4D81A2}"/>
                </a:ext>
              </a:extLst>
            </p:cNvPr>
            <p:cNvSpPr/>
            <p:nvPr/>
          </p:nvSpPr>
          <p:spPr>
            <a:xfrm>
              <a:off x="1051654" y="2753640"/>
              <a:ext cx="2529636" cy="368503"/>
            </a:xfrm>
            <a:prstGeom prst="roundRect">
              <a:avLst/>
            </a:prstGeom>
            <a:solidFill>
              <a:srgbClr val="E0F1F1"/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200" b="1" dirty="0" err="1">
                  <a:solidFill>
                    <a:schemeClr val="bg2">
                      <a:lumMod val="90000"/>
                      <a:lumOff val="10000"/>
                    </a:schemeClr>
                  </a:solidFill>
                </a:rPr>
                <a:t>CodeDeploy</a:t>
              </a:r>
              <a:r>
                <a:rPr kumimoji="1" lang="ko-KR" altLang="en-US" sz="1200" b="1" dirty="0">
                  <a:solidFill>
                    <a:schemeClr val="bg2">
                      <a:lumMod val="90000"/>
                      <a:lumOff val="10000"/>
                    </a:schemeClr>
                  </a:solidFill>
                </a:rPr>
                <a:t>가 </a:t>
              </a:r>
              <a:r>
                <a:rPr kumimoji="1" lang="en-US" altLang="ko-KR" sz="1200" b="1" dirty="0">
                  <a:solidFill>
                    <a:schemeClr val="bg2">
                      <a:lumMod val="90000"/>
                      <a:lumOff val="10000"/>
                    </a:schemeClr>
                  </a:solidFill>
                </a:rPr>
                <a:t>EC2</a:t>
              </a:r>
              <a:r>
                <a:rPr kumimoji="1" lang="ko-KR" altLang="en-US" sz="1200" b="1" dirty="0">
                  <a:solidFill>
                    <a:schemeClr val="bg2">
                      <a:lumMod val="90000"/>
                      <a:lumOff val="10000"/>
                    </a:schemeClr>
                  </a:solidFill>
                </a:rPr>
                <a:t>로 전달</a:t>
              </a:r>
            </a:p>
          </p:txBody>
        </p:sp>
        <p:sp>
          <p:nvSpPr>
            <p:cNvPr id="8" name="모서리가 둥근 직사각형 7">
              <a:extLst>
                <a:ext uri="{FF2B5EF4-FFF2-40B4-BE49-F238E27FC236}">
                  <a16:creationId xmlns:a16="http://schemas.microsoft.com/office/drawing/2014/main" id="{C32CC7E9-AAEC-9737-7895-C72AF72D14B8}"/>
                </a:ext>
              </a:extLst>
            </p:cNvPr>
            <p:cNvSpPr/>
            <p:nvPr/>
          </p:nvSpPr>
          <p:spPr>
            <a:xfrm>
              <a:off x="1051654" y="3359659"/>
              <a:ext cx="2529636" cy="368503"/>
            </a:xfrm>
            <a:prstGeom prst="roundRect">
              <a:avLst/>
            </a:prstGeom>
            <a:solidFill>
              <a:srgbClr val="E0F1F1"/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200" b="1" dirty="0">
                  <a:solidFill>
                    <a:schemeClr val="bg2">
                      <a:lumMod val="90000"/>
                      <a:lumOff val="10000"/>
                    </a:schemeClr>
                  </a:solidFill>
                </a:rPr>
                <a:t>/home/ec2-user/app</a:t>
              </a:r>
              <a:r>
                <a:rPr kumimoji="1" lang="ko-KR" altLang="en-US" sz="1200" b="1" dirty="0">
                  <a:solidFill>
                    <a:schemeClr val="bg2">
                      <a:lumMod val="90000"/>
                      <a:lumOff val="10000"/>
                    </a:schemeClr>
                  </a:solidFill>
                </a:rPr>
                <a:t> 경로에 복사</a:t>
              </a:r>
            </a:p>
          </p:txBody>
        </p:sp>
        <p:sp>
          <p:nvSpPr>
            <p:cNvPr id="10" name="Google Shape;139;p2">
              <a:extLst>
                <a:ext uri="{FF2B5EF4-FFF2-40B4-BE49-F238E27FC236}">
                  <a16:creationId xmlns:a16="http://schemas.microsoft.com/office/drawing/2014/main" id="{9BCAB226-DF42-FB3B-F229-E32C940854A7}"/>
                </a:ext>
              </a:extLst>
            </p:cNvPr>
            <p:cNvSpPr txBox="1"/>
            <p:nvPr/>
          </p:nvSpPr>
          <p:spPr>
            <a:xfrm rot="5400000">
              <a:off x="2207646" y="2480222"/>
              <a:ext cx="217652" cy="325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 algn="l" rtl="0">
                <a:spcBef>
                  <a:spcPts val="0"/>
                </a:spcBef>
                <a:spcAft>
                  <a:spcPts val="0"/>
                </a:spcAft>
                <a:buClr>
                  <a:srgbClr val="204F55"/>
                </a:buClr>
                <a:buSzPts val="2000"/>
              </a:pPr>
              <a:r>
                <a:rPr lang="en-US" altLang="ko-KR" sz="1600" dirty="0">
                  <a:solidFill>
                    <a:srgbClr val="204F55"/>
                  </a:solidFill>
                </a:rPr>
                <a:t>&gt;</a:t>
              </a:r>
              <a:endParaRPr sz="1600" dirty="0">
                <a:solidFill>
                  <a:srgbClr val="204F55"/>
                </a:solidFill>
              </a:endParaRPr>
            </a:p>
          </p:txBody>
        </p:sp>
        <p:sp>
          <p:nvSpPr>
            <p:cNvPr id="11" name="Google Shape;139;p2">
              <a:extLst>
                <a:ext uri="{FF2B5EF4-FFF2-40B4-BE49-F238E27FC236}">
                  <a16:creationId xmlns:a16="http://schemas.microsoft.com/office/drawing/2014/main" id="{5A3ED530-77F7-29EF-B51E-53DD0C36930C}"/>
                </a:ext>
              </a:extLst>
            </p:cNvPr>
            <p:cNvSpPr txBox="1"/>
            <p:nvPr/>
          </p:nvSpPr>
          <p:spPr>
            <a:xfrm rot="5400000">
              <a:off x="2207646" y="3076165"/>
              <a:ext cx="217652" cy="325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 algn="l" rtl="0">
                <a:spcBef>
                  <a:spcPts val="0"/>
                </a:spcBef>
                <a:spcAft>
                  <a:spcPts val="0"/>
                </a:spcAft>
                <a:buClr>
                  <a:srgbClr val="204F55"/>
                </a:buClr>
                <a:buSzPts val="2000"/>
              </a:pPr>
              <a:r>
                <a:rPr lang="en-US" altLang="ko-KR" sz="1600" dirty="0">
                  <a:solidFill>
                    <a:srgbClr val="204F55"/>
                  </a:solidFill>
                </a:rPr>
                <a:t>&gt;</a:t>
              </a:r>
              <a:endParaRPr sz="1600" dirty="0">
                <a:solidFill>
                  <a:srgbClr val="204F55"/>
                </a:solidFill>
              </a:endParaRPr>
            </a:p>
          </p:txBody>
        </p:sp>
        <p:sp>
          <p:nvSpPr>
            <p:cNvPr id="12" name="Google Shape;139;p2">
              <a:extLst>
                <a:ext uri="{FF2B5EF4-FFF2-40B4-BE49-F238E27FC236}">
                  <a16:creationId xmlns:a16="http://schemas.microsoft.com/office/drawing/2014/main" id="{B15AD305-F734-DE90-6E83-9C131072E9AA}"/>
                </a:ext>
              </a:extLst>
            </p:cNvPr>
            <p:cNvSpPr txBox="1"/>
            <p:nvPr/>
          </p:nvSpPr>
          <p:spPr>
            <a:xfrm rot="5400000">
              <a:off x="2207646" y="3686580"/>
              <a:ext cx="217652" cy="325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 algn="l" rtl="0">
                <a:spcBef>
                  <a:spcPts val="0"/>
                </a:spcBef>
                <a:spcAft>
                  <a:spcPts val="0"/>
                </a:spcAft>
                <a:buClr>
                  <a:srgbClr val="204F55"/>
                </a:buClr>
                <a:buSzPts val="2000"/>
              </a:pPr>
              <a:r>
                <a:rPr lang="en-US" altLang="ko-KR" sz="1600" dirty="0">
                  <a:solidFill>
                    <a:srgbClr val="204F55"/>
                  </a:solidFill>
                </a:rPr>
                <a:t>&gt;</a:t>
              </a:r>
              <a:endParaRPr sz="1600" dirty="0">
                <a:solidFill>
                  <a:srgbClr val="204F55"/>
                </a:solidFill>
              </a:endParaRPr>
            </a:p>
          </p:txBody>
        </p:sp>
        <p:sp>
          <p:nvSpPr>
            <p:cNvPr id="14" name="모서리가 둥근 직사각형 13">
              <a:extLst>
                <a:ext uri="{FF2B5EF4-FFF2-40B4-BE49-F238E27FC236}">
                  <a16:creationId xmlns:a16="http://schemas.microsoft.com/office/drawing/2014/main" id="{FB51F8A6-A5E1-24E8-F724-0B98D24E43F2}"/>
                </a:ext>
              </a:extLst>
            </p:cNvPr>
            <p:cNvSpPr/>
            <p:nvPr/>
          </p:nvSpPr>
          <p:spPr>
            <a:xfrm>
              <a:off x="1051654" y="5179681"/>
              <a:ext cx="2529636" cy="368503"/>
            </a:xfrm>
            <a:prstGeom prst="roundRect">
              <a:avLst/>
            </a:prstGeom>
            <a:solidFill>
              <a:srgbClr val="E0F1F1"/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200" b="1" dirty="0">
                  <a:solidFill>
                    <a:schemeClr val="bg2">
                      <a:lumMod val="90000"/>
                      <a:lumOff val="10000"/>
                    </a:schemeClr>
                  </a:solidFill>
                </a:rPr>
                <a:t>Spring Boot </a:t>
              </a:r>
              <a:r>
                <a:rPr kumimoji="1" lang="ko-KR" altLang="en-US" sz="1200" b="1" dirty="0">
                  <a:solidFill>
                    <a:schemeClr val="bg2">
                      <a:lumMod val="90000"/>
                      <a:lumOff val="10000"/>
                    </a:schemeClr>
                  </a:solidFill>
                </a:rPr>
                <a:t>서버 실행 확인</a:t>
              </a:r>
            </a:p>
          </p:txBody>
        </p:sp>
        <p:sp>
          <p:nvSpPr>
            <p:cNvPr id="15" name="Google Shape;139;p2">
              <a:extLst>
                <a:ext uri="{FF2B5EF4-FFF2-40B4-BE49-F238E27FC236}">
                  <a16:creationId xmlns:a16="http://schemas.microsoft.com/office/drawing/2014/main" id="{D9F5EEF6-B165-DEE0-FB9A-BD969D78BE70}"/>
                </a:ext>
              </a:extLst>
            </p:cNvPr>
            <p:cNvSpPr txBox="1"/>
            <p:nvPr/>
          </p:nvSpPr>
          <p:spPr>
            <a:xfrm rot="5400000">
              <a:off x="2207646" y="4886111"/>
              <a:ext cx="217652" cy="325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 algn="l" rtl="0">
                <a:spcBef>
                  <a:spcPts val="0"/>
                </a:spcBef>
                <a:spcAft>
                  <a:spcPts val="0"/>
                </a:spcAft>
                <a:buClr>
                  <a:srgbClr val="204F55"/>
                </a:buClr>
                <a:buSzPts val="2000"/>
              </a:pPr>
              <a:r>
                <a:rPr lang="en-US" altLang="ko-KR" sz="1600" dirty="0">
                  <a:solidFill>
                    <a:srgbClr val="204F55"/>
                  </a:solidFill>
                </a:rPr>
                <a:t>&gt;</a:t>
              </a:r>
              <a:endParaRPr sz="1600" dirty="0">
                <a:solidFill>
                  <a:srgbClr val="204F55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D025EE8-2FE6-35E4-2C1D-1E74FA55DED3}"/>
                </a:ext>
              </a:extLst>
            </p:cNvPr>
            <p:cNvSpPr txBox="1"/>
            <p:nvPr/>
          </p:nvSpPr>
          <p:spPr>
            <a:xfrm>
              <a:off x="1203223" y="2290618"/>
              <a:ext cx="2226498" cy="1973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/>
                <a:t>(</a:t>
              </a:r>
              <a:r>
                <a:rPr lang="en-US" altLang="ko-KR" sz="1100" dirty="0" err="1"/>
                <a:t>app.jar</a:t>
              </a:r>
              <a:r>
                <a:rPr lang="en-US" altLang="ko-KR" sz="1100" dirty="0"/>
                <a:t>, </a:t>
              </a:r>
              <a:r>
                <a:rPr lang="en-US" altLang="ko-KR" sz="1100" dirty="0" err="1"/>
                <a:t>appspec.yml</a:t>
              </a:r>
              <a:r>
                <a:rPr lang="en-US" altLang="ko-KR" sz="1100" dirty="0"/>
                <a:t>, scripts)</a:t>
              </a:r>
            </a:p>
          </p:txBody>
        </p:sp>
        <p:sp>
          <p:nvSpPr>
            <p:cNvPr id="2" name="모서리가 둥근 직사각형 1">
              <a:extLst>
                <a:ext uri="{FF2B5EF4-FFF2-40B4-BE49-F238E27FC236}">
                  <a16:creationId xmlns:a16="http://schemas.microsoft.com/office/drawing/2014/main" id="{60534CD3-3E5F-727B-E2CB-16E98F48CC63}"/>
                </a:ext>
              </a:extLst>
            </p:cNvPr>
            <p:cNvSpPr/>
            <p:nvPr/>
          </p:nvSpPr>
          <p:spPr>
            <a:xfrm>
              <a:off x="643661" y="4050944"/>
              <a:ext cx="3345621" cy="755266"/>
            </a:xfrm>
            <a:prstGeom prst="roundRect">
              <a:avLst/>
            </a:prstGeom>
            <a:solidFill>
              <a:schemeClr val="bg2">
                <a:lumMod val="25000"/>
                <a:lumOff val="75000"/>
              </a:schemeClr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200" b="1" dirty="0">
                  <a:solidFill>
                    <a:schemeClr val="bg2">
                      <a:lumMod val="90000"/>
                      <a:lumOff val="10000"/>
                    </a:schemeClr>
                  </a:solidFill>
                </a:rPr>
                <a:t>.</a:t>
              </a:r>
              <a:r>
                <a:rPr kumimoji="1" lang="en-US" altLang="ko-KR" sz="1200" b="1" dirty="0" err="1">
                  <a:solidFill>
                    <a:schemeClr val="bg2">
                      <a:lumMod val="90000"/>
                      <a:lumOff val="10000"/>
                    </a:schemeClr>
                  </a:solidFill>
                </a:rPr>
                <a:t>sh</a:t>
              </a:r>
              <a:r>
                <a:rPr kumimoji="1" lang="en-US" altLang="ko-KR" sz="1200" b="1" dirty="0">
                  <a:solidFill>
                    <a:schemeClr val="bg2">
                      <a:lumMod val="90000"/>
                      <a:lumOff val="10000"/>
                    </a:schemeClr>
                  </a:solidFill>
                </a:rPr>
                <a:t> </a:t>
              </a:r>
              <a:r>
                <a:rPr kumimoji="1" lang="ko-KR" altLang="en-US" sz="1200" b="1" dirty="0">
                  <a:solidFill>
                    <a:schemeClr val="bg2">
                      <a:lumMod val="90000"/>
                      <a:lumOff val="10000"/>
                    </a:schemeClr>
                  </a:solidFill>
                </a:rPr>
                <a:t>파일들 실행</a:t>
              </a:r>
            </a:p>
          </p:txBody>
        </p:sp>
      </p:grp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1C017990-3AEF-DC8A-6263-AFB1BB725985}"/>
              </a:ext>
            </a:extLst>
          </p:cNvPr>
          <p:cNvSpPr/>
          <p:nvPr/>
        </p:nvSpPr>
        <p:spPr>
          <a:xfrm>
            <a:off x="4962711" y="3325794"/>
            <a:ext cx="2529636" cy="368503"/>
          </a:xfrm>
          <a:prstGeom prst="roundRect">
            <a:avLst/>
          </a:prstGeom>
          <a:solidFill>
            <a:schemeClr val="bg2">
              <a:lumMod val="10000"/>
              <a:lumOff val="9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err="1">
                <a:solidFill>
                  <a:schemeClr val="bg2">
                    <a:lumMod val="90000"/>
                    <a:lumOff val="10000"/>
                  </a:schemeClr>
                </a:solidFill>
              </a:rPr>
              <a:t>prepare.sh</a:t>
            </a:r>
            <a:endParaRPr kumimoji="1" lang="ko-KR" altLang="en-US" sz="1600" b="1" dirty="0">
              <a:solidFill>
                <a:schemeClr val="bg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FA44308E-C13B-9F81-EE65-91F2843D1BA6}"/>
              </a:ext>
            </a:extLst>
          </p:cNvPr>
          <p:cNvSpPr/>
          <p:nvPr/>
        </p:nvSpPr>
        <p:spPr>
          <a:xfrm>
            <a:off x="4962711" y="4206064"/>
            <a:ext cx="2529636" cy="368503"/>
          </a:xfrm>
          <a:prstGeom prst="roundRect">
            <a:avLst/>
          </a:prstGeom>
          <a:solidFill>
            <a:schemeClr val="bg2">
              <a:lumMod val="10000"/>
              <a:lumOff val="9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err="1">
                <a:solidFill>
                  <a:schemeClr val="bg2">
                    <a:lumMod val="90000"/>
                    <a:lumOff val="10000"/>
                  </a:schemeClr>
                </a:solidFill>
              </a:rPr>
              <a:t>start.sh</a:t>
            </a:r>
            <a:endParaRPr kumimoji="1" lang="ko-KR" altLang="en-US" sz="1600" b="1" dirty="0">
              <a:solidFill>
                <a:schemeClr val="bg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074535AA-E3FF-02D9-C88F-B360B79019F2}"/>
              </a:ext>
            </a:extLst>
          </p:cNvPr>
          <p:cNvSpPr/>
          <p:nvPr/>
        </p:nvSpPr>
        <p:spPr>
          <a:xfrm>
            <a:off x="4962711" y="2445524"/>
            <a:ext cx="2529636" cy="368503"/>
          </a:xfrm>
          <a:prstGeom prst="roundRect">
            <a:avLst/>
          </a:prstGeom>
          <a:solidFill>
            <a:schemeClr val="bg2">
              <a:lumMod val="10000"/>
              <a:lumOff val="9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err="1">
                <a:solidFill>
                  <a:schemeClr val="bg2">
                    <a:lumMod val="90000"/>
                    <a:lumOff val="10000"/>
                  </a:schemeClr>
                </a:solidFill>
              </a:rPr>
              <a:t>stop.sh</a:t>
            </a:r>
            <a:endParaRPr kumimoji="1" lang="ko-KR" altLang="en-US" sz="1600" b="1" dirty="0">
              <a:solidFill>
                <a:schemeClr val="bg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3F23094F-1456-BBD7-385D-233D6D0F9AFB}"/>
              </a:ext>
            </a:extLst>
          </p:cNvPr>
          <p:cNvSpPr/>
          <p:nvPr/>
        </p:nvSpPr>
        <p:spPr>
          <a:xfrm>
            <a:off x="4962711" y="5086334"/>
            <a:ext cx="2529636" cy="368503"/>
          </a:xfrm>
          <a:prstGeom prst="roundRect">
            <a:avLst/>
          </a:prstGeom>
          <a:solidFill>
            <a:schemeClr val="bg2">
              <a:lumMod val="10000"/>
              <a:lumOff val="9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err="1">
                <a:solidFill>
                  <a:schemeClr val="bg2">
                    <a:lumMod val="90000"/>
                    <a:lumOff val="10000"/>
                  </a:schemeClr>
                </a:solidFill>
              </a:rPr>
              <a:t>validate.sh</a:t>
            </a:r>
            <a:endParaRPr kumimoji="1" lang="ko-KR" altLang="en-US" sz="1600" b="1" dirty="0">
              <a:solidFill>
                <a:schemeClr val="bg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6" name="Google Shape;139;p2">
            <a:extLst>
              <a:ext uri="{FF2B5EF4-FFF2-40B4-BE49-F238E27FC236}">
                <a16:creationId xmlns:a16="http://schemas.microsoft.com/office/drawing/2014/main" id="{CE28FBE9-57BE-C355-F952-25C474D5F34D}"/>
              </a:ext>
            </a:extLst>
          </p:cNvPr>
          <p:cNvSpPr txBox="1"/>
          <p:nvPr/>
        </p:nvSpPr>
        <p:spPr>
          <a:xfrm>
            <a:off x="7721488" y="2453910"/>
            <a:ext cx="4158784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ko-KR" altLang="en-US" b="1" dirty="0">
                <a:solidFill>
                  <a:srgbClr val="204F55"/>
                </a:solidFill>
              </a:rPr>
              <a:t>기존 </a:t>
            </a:r>
            <a:r>
              <a:rPr lang="en-US" altLang="ko-KR" b="1" dirty="0" err="1">
                <a:solidFill>
                  <a:srgbClr val="204F55"/>
                </a:solidFill>
              </a:rPr>
              <a:t>app.jar</a:t>
            </a:r>
            <a:r>
              <a:rPr lang="en-US" altLang="ko-KR" b="1" dirty="0">
                <a:solidFill>
                  <a:srgbClr val="204F55"/>
                </a:solidFill>
              </a:rPr>
              <a:t> </a:t>
            </a:r>
            <a:r>
              <a:rPr lang="ko-KR" altLang="en-US" b="1" dirty="0">
                <a:solidFill>
                  <a:srgbClr val="204F55"/>
                </a:solidFill>
              </a:rPr>
              <a:t>프로세스 종료</a:t>
            </a:r>
          </a:p>
        </p:txBody>
      </p:sp>
      <p:sp>
        <p:nvSpPr>
          <p:cNvPr id="38" name="Google Shape;139;p2">
            <a:extLst>
              <a:ext uri="{FF2B5EF4-FFF2-40B4-BE49-F238E27FC236}">
                <a16:creationId xmlns:a16="http://schemas.microsoft.com/office/drawing/2014/main" id="{C34AD9E1-B427-EB65-0079-0B53B1656AA5}"/>
              </a:ext>
            </a:extLst>
          </p:cNvPr>
          <p:cNvSpPr txBox="1"/>
          <p:nvPr/>
        </p:nvSpPr>
        <p:spPr>
          <a:xfrm>
            <a:off x="7721488" y="3313572"/>
            <a:ext cx="4158784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ko-KR" altLang="en-US" b="1" dirty="0">
                <a:solidFill>
                  <a:srgbClr val="204F55"/>
                </a:solidFill>
              </a:rPr>
              <a:t>배포 경로 정리 및 권한 설정</a:t>
            </a:r>
          </a:p>
        </p:txBody>
      </p:sp>
      <p:sp>
        <p:nvSpPr>
          <p:cNvPr id="39" name="Google Shape;139;p2">
            <a:extLst>
              <a:ext uri="{FF2B5EF4-FFF2-40B4-BE49-F238E27FC236}">
                <a16:creationId xmlns:a16="http://schemas.microsoft.com/office/drawing/2014/main" id="{0FE0B47B-8052-D00B-FDDF-7856B529C386}"/>
              </a:ext>
            </a:extLst>
          </p:cNvPr>
          <p:cNvSpPr txBox="1"/>
          <p:nvPr/>
        </p:nvSpPr>
        <p:spPr>
          <a:xfrm>
            <a:off x="7721488" y="4173234"/>
            <a:ext cx="4158784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ko-KR" altLang="en-US" b="1" dirty="0">
                <a:solidFill>
                  <a:srgbClr val="204F55"/>
                </a:solidFill>
              </a:rPr>
              <a:t>새 </a:t>
            </a:r>
            <a:r>
              <a:rPr lang="en-US" altLang="ko-KR" b="1" dirty="0" err="1">
                <a:solidFill>
                  <a:srgbClr val="204F55"/>
                </a:solidFill>
              </a:rPr>
              <a:t>app.jar</a:t>
            </a:r>
            <a:r>
              <a:rPr lang="en-US" altLang="ko-KR" b="1" dirty="0">
                <a:solidFill>
                  <a:srgbClr val="204F55"/>
                </a:solidFill>
              </a:rPr>
              <a:t> </a:t>
            </a:r>
            <a:r>
              <a:rPr lang="ko-KR" altLang="en-US" b="1" dirty="0">
                <a:solidFill>
                  <a:srgbClr val="204F55"/>
                </a:solidFill>
              </a:rPr>
              <a:t>실행 및 로그 저장</a:t>
            </a:r>
          </a:p>
        </p:txBody>
      </p:sp>
      <p:sp>
        <p:nvSpPr>
          <p:cNvPr id="40" name="Google Shape;139;p2">
            <a:extLst>
              <a:ext uri="{FF2B5EF4-FFF2-40B4-BE49-F238E27FC236}">
                <a16:creationId xmlns:a16="http://schemas.microsoft.com/office/drawing/2014/main" id="{B38D2192-8AC9-0EAC-E531-E6C6CBA43469}"/>
              </a:ext>
            </a:extLst>
          </p:cNvPr>
          <p:cNvSpPr txBox="1"/>
          <p:nvPr/>
        </p:nvSpPr>
        <p:spPr>
          <a:xfrm>
            <a:off x="7721488" y="5032896"/>
            <a:ext cx="4158784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b="1" dirty="0">
                <a:solidFill>
                  <a:srgbClr val="FF0000"/>
                </a:solidFill>
              </a:rPr>
              <a:t>/health API </a:t>
            </a:r>
            <a:r>
              <a:rPr lang="ko-KR" altLang="en-US" b="1" dirty="0">
                <a:solidFill>
                  <a:srgbClr val="204F55"/>
                </a:solidFill>
              </a:rPr>
              <a:t>로 서비스 정상 여부</a:t>
            </a:r>
          </a:p>
        </p:txBody>
      </p:sp>
    </p:spTree>
    <p:extLst>
      <p:ext uri="{BB962C8B-B14F-4D97-AF65-F5344CB8AC3E}">
        <p14:creationId xmlns:p14="http://schemas.microsoft.com/office/powerpoint/2010/main" val="2829676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76039A06-7598-8B1E-8D29-276C31ACA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>
            <a:extLst>
              <a:ext uri="{FF2B5EF4-FFF2-40B4-BE49-F238E27FC236}">
                <a16:creationId xmlns:a16="http://schemas.microsoft.com/office/drawing/2014/main" id="{CF25CE5F-9E26-E4C3-F1CD-B85E9A6FA5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69950" y="6492875"/>
            <a:ext cx="5950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16</a:t>
            </a:fld>
            <a:endParaRPr/>
          </a:p>
        </p:txBody>
      </p:sp>
      <p:sp>
        <p:nvSpPr>
          <p:cNvPr id="147" name="Google Shape;147;p4">
            <a:extLst>
              <a:ext uri="{FF2B5EF4-FFF2-40B4-BE49-F238E27FC236}">
                <a16:creationId xmlns:a16="http://schemas.microsoft.com/office/drawing/2014/main" id="{6228714A-B147-6D17-D0A0-FD32B7E2C9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800" y="144035"/>
            <a:ext cx="10515600" cy="75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3000"/>
              <a:buFont typeface="Arial"/>
              <a:buNone/>
            </a:pPr>
            <a:r>
              <a:rPr lang="ko-KR" sz="3000" dirty="0"/>
              <a:t>C</a:t>
            </a:r>
            <a:r>
              <a:rPr lang="en-US" altLang="ko-KR" sz="3000" dirty="0"/>
              <a:t>D</a:t>
            </a:r>
            <a:r>
              <a:rPr lang="ko-KR" sz="3000" dirty="0"/>
              <a:t> 환경 구축 :</a:t>
            </a:r>
            <a:r>
              <a:rPr lang="en-US" altLang="ko-KR" sz="3000" dirty="0"/>
              <a:t> </a:t>
            </a:r>
            <a:r>
              <a:rPr lang="en-US" altLang="ko-KR" sz="3000" dirty="0" err="1"/>
              <a:t>CodeDeploy</a:t>
            </a:r>
            <a:r>
              <a:rPr lang="en-US" altLang="ko-KR" sz="3000" dirty="0"/>
              <a:t> </a:t>
            </a:r>
            <a:r>
              <a:rPr lang="ko-KR" altLang="en-US" sz="3000" dirty="0"/>
              <a:t>기반 </a:t>
            </a:r>
            <a:r>
              <a:rPr lang="en-US" altLang="ko-KR" sz="3000" dirty="0"/>
              <a:t>EC2 </a:t>
            </a:r>
            <a:r>
              <a:rPr lang="ko-KR" altLang="en-US" sz="3000" dirty="0"/>
              <a:t>자동 배포</a:t>
            </a:r>
            <a:endParaRPr dirty="0"/>
          </a:p>
        </p:txBody>
      </p:sp>
      <p:sp>
        <p:nvSpPr>
          <p:cNvPr id="148" name="Google Shape;148;p4">
            <a:extLst>
              <a:ext uri="{FF2B5EF4-FFF2-40B4-BE49-F238E27FC236}">
                <a16:creationId xmlns:a16="http://schemas.microsoft.com/office/drawing/2014/main" id="{D6750A76-D6D3-6302-E7D7-72DF41A6E7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7038" y="1401763"/>
            <a:ext cx="11241221" cy="537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56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✔"/>
            </a:pPr>
            <a:r>
              <a:rPr lang="en-US" sz="2000" b="0" dirty="0" err="1"/>
              <a:t>CodeBuild</a:t>
            </a:r>
            <a:r>
              <a:rPr lang="ko-KR" altLang="en-US" sz="2000" b="0" dirty="0"/>
              <a:t>에서 생성된 </a:t>
            </a:r>
            <a:r>
              <a:rPr lang="en-US" altLang="ko-KR" sz="2000" b="0" dirty="0"/>
              <a:t>Artifact</a:t>
            </a:r>
            <a:r>
              <a:rPr lang="ko-KR" altLang="en-US" sz="2000" b="0" dirty="0"/>
              <a:t>들로 실제 </a:t>
            </a:r>
            <a:r>
              <a:rPr lang="en-US" altLang="ko-KR" sz="2000" b="0" dirty="0"/>
              <a:t>EC2 </a:t>
            </a:r>
            <a:r>
              <a:rPr lang="ko-KR" altLang="en-US" sz="2000" b="0" dirty="0"/>
              <a:t>서버에 배포하는 단계</a:t>
            </a:r>
            <a:endParaRPr sz="2000" b="0" dirty="0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FA28FDC8-92FB-3B4A-88CC-1B3F70CA519D}"/>
              </a:ext>
            </a:extLst>
          </p:cNvPr>
          <p:cNvSpPr/>
          <p:nvPr/>
        </p:nvSpPr>
        <p:spPr>
          <a:xfrm>
            <a:off x="1452273" y="2712579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err="1">
                <a:solidFill>
                  <a:schemeClr val="bg2">
                    <a:lumMod val="90000"/>
                    <a:lumOff val="10000"/>
                  </a:schemeClr>
                </a:solidFill>
              </a:rPr>
              <a:t>CodeDeploy</a:t>
            </a:r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가 </a:t>
            </a:r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EC2</a:t>
            </a:r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로 전달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C7901532-7793-33C2-609C-1CA6C2B20BEF}"/>
              </a:ext>
            </a:extLst>
          </p:cNvPr>
          <p:cNvSpPr/>
          <p:nvPr/>
        </p:nvSpPr>
        <p:spPr>
          <a:xfrm>
            <a:off x="1452273" y="3515801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/home/ec2-user/app</a:t>
            </a:r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 경로에 복사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F980C171-D5D9-CF51-45BB-E4992CC81F78}"/>
              </a:ext>
            </a:extLst>
          </p:cNvPr>
          <p:cNvSpPr/>
          <p:nvPr/>
        </p:nvSpPr>
        <p:spPr>
          <a:xfrm>
            <a:off x="1452273" y="4319023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.</a:t>
            </a:r>
            <a:r>
              <a:rPr kumimoji="1" lang="en-US" altLang="ko-KR" sz="1600" b="1" dirty="0" err="1">
                <a:solidFill>
                  <a:schemeClr val="bg2">
                    <a:lumMod val="90000"/>
                    <a:lumOff val="10000"/>
                  </a:schemeClr>
                </a:solidFill>
              </a:rPr>
              <a:t>sh</a:t>
            </a:r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 </a:t>
            </a:r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파일들 실행</a:t>
            </a:r>
          </a:p>
        </p:txBody>
      </p:sp>
      <p:sp>
        <p:nvSpPr>
          <p:cNvPr id="10" name="Google Shape;139;p2">
            <a:extLst>
              <a:ext uri="{FF2B5EF4-FFF2-40B4-BE49-F238E27FC236}">
                <a16:creationId xmlns:a16="http://schemas.microsoft.com/office/drawing/2014/main" id="{4690A8CD-D874-F99B-A526-FFBB7418DC29}"/>
              </a:ext>
            </a:extLst>
          </p:cNvPr>
          <p:cNvSpPr txBox="1"/>
          <p:nvPr/>
        </p:nvSpPr>
        <p:spPr>
          <a:xfrm rot="5400000">
            <a:off x="2984434" y="2319318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11" name="Google Shape;139;p2">
            <a:extLst>
              <a:ext uri="{FF2B5EF4-FFF2-40B4-BE49-F238E27FC236}">
                <a16:creationId xmlns:a16="http://schemas.microsoft.com/office/drawing/2014/main" id="{B41C44A5-4B94-2BC1-424F-BD6A5DC4080F}"/>
              </a:ext>
            </a:extLst>
          </p:cNvPr>
          <p:cNvSpPr txBox="1"/>
          <p:nvPr/>
        </p:nvSpPr>
        <p:spPr>
          <a:xfrm rot="5400000">
            <a:off x="2984434" y="3109185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12" name="Google Shape;139;p2">
            <a:extLst>
              <a:ext uri="{FF2B5EF4-FFF2-40B4-BE49-F238E27FC236}">
                <a16:creationId xmlns:a16="http://schemas.microsoft.com/office/drawing/2014/main" id="{5CC0C97F-1C4B-4440-E27C-EC01301C2143}"/>
              </a:ext>
            </a:extLst>
          </p:cNvPr>
          <p:cNvSpPr txBox="1"/>
          <p:nvPr/>
        </p:nvSpPr>
        <p:spPr>
          <a:xfrm rot="5400000">
            <a:off x="2984434" y="3899052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E766629A-4002-489D-717D-4E8C60598875}"/>
              </a:ext>
            </a:extLst>
          </p:cNvPr>
          <p:cNvSpPr/>
          <p:nvPr/>
        </p:nvSpPr>
        <p:spPr>
          <a:xfrm>
            <a:off x="1452273" y="5235258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Spring Boot </a:t>
            </a:r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서버 실행 확인</a:t>
            </a:r>
          </a:p>
        </p:txBody>
      </p:sp>
      <p:sp>
        <p:nvSpPr>
          <p:cNvPr id="15" name="Google Shape;139;p2">
            <a:extLst>
              <a:ext uri="{FF2B5EF4-FFF2-40B4-BE49-F238E27FC236}">
                <a16:creationId xmlns:a16="http://schemas.microsoft.com/office/drawing/2014/main" id="{209BD4A5-D15D-16E3-60EE-A29C1E174F50}"/>
              </a:ext>
            </a:extLst>
          </p:cNvPr>
          <p:cNvSpPr txBox="1"/>
          <p:nvPr/>
        </p:nvSpPr>
        <p:spPr>
          <a:xfrm rot="5400000">
            <a:off x="2984434" y="4815287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A74FA4-75C2-02C4-FB26-C1AFB659EDBB}"/>
              </a:ext>
            </a:extLst>
          </p:cNvPr>
          <p:cNvSpPr txBox="1"/>
          <p:nvPr/>
        </p:nvSpPr>
        <p:spPr>
          <a:xfrm>
            <a:off x="1653164" y="2098886"/>
            <a:ext cx="2951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app.jar</a:t>
            </a:r>
            <a:r>
              <a:rPr lang="en-US" altLang="ko-KR" dirty="0"/>
              <a:t>, </a:t>
            </a:r>
            <a:r>
              <a:rPr lang="en-US" altLang="ko-KR" dirty="0" err="1"/>
              <a:t>appspec.yml</a:t>
            </a:r>
            <a:r>
              <a:rPr lang="en-US" altLang="ko-KR" dirty="0"/>
              <a:t>, scripts)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EF40D33-B0A6-3A16-68CE-B4351BA00737}"/>
              </a:ext>
            </a:extLst>
          </p:cNvPr>
          <p:cNvGrpSpPr/>
          <p:nvPr/>
        </p:nvGrpSpPr>
        <p:grpSpPr>
          <a:xfrm>
            <a:off x="5788161" y="1939636"/>
            <a:ext cx="5150544" cy="4289069"/>
            <a:chOff x="5788161" y="1939636"/>
            <a:chExt cx="5150544" cy="428906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F5F49AD7-23C5-43C2-B33B-F393D222B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88161" y="1939636"/>
              <a:ext cx="5150544" cy="3433696"/>
            </a:xfrm>
            <a:prstGeom prst="rect">
              <a:avLst/>
            </a:prstGeom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F6B8B239-62F9-CBFD-E994-536907C8C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88161" y="5593705"/>
              <a:ext cx="5150544" cy="635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1207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8FA9B7DE-64E0-1E2E-8DE2-CB888E25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>
            <a:extLst>
              <a:ext uri="{FF2B5EF4-FFF2-40B4-BE49-F238E27FC236}">
                <a16:creationId xmlns:a16="http://schemas.microsoft.com/office/drawing/2014/main" id="{BAFBA5A3-7738-E294-FEAF-F4C1E3288F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69950" y="6492875"/>
            <a:ext cx="5950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17</a:t>
            </a:fld>
            <a:endParaRPr/>
          </a:p>
        </p:txBody>
      </p:sp>
      <p:sp>
        <p:nvSpPr>
          <p:cNvPr id="147" name="Google Shape;147;p4">
            <a:extLst>
              <a:ext uri="{FF2B5EF4-FFF2-40B4-BE49-F238E27FC236}">
                <a16:creationId xmlns:a16="http://schemas.microsoft.com/office/drawing/2014/main" id="{8C9EA563-0E6F-A0F5-6278-9EA0647602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800" y="144035"/>
            <a:ext cx="10515600" cy="75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3000"/>
              <a:buFont typeface="Arial"/>
              <a:buNone/>
            </a:pPr>
            <a:r>
              <a:rPr lang="ko-KR" sz="3000" dirty="0"/>
              <a:t>C</a:t>
            </a:r>
            <a:r>
              <a:rPr lang="en-US" altLang="ko-KR" sz="3000" dirty="0"/>
              <a:t>D</a:t>
            </a:r>
            <a:r>
              <a:rPr lang="ko-KR" sz="3000" dirty="0"/>
              <a:t> 환경 구축 :</a:t>
            </a:r>
            <a:r>
              <a:rPr lang="en-US" altLang="ko-KR" sz="3000" dirty="0"/>
              <a:t> </a:t>
            </a:r>
            <a:r>
              <a:rPr lang="en-US" altLang="ko-KR" sz="3000" dirty="0" err="1"/>
              <a:t>CodeDeploy</a:t>
            </a:r>
            <a:r>
              <a:rPr lang="en-US" altLang="ko-KR" sz="3000" dirty="0"/>
              <a:t> </a:t>
            </a:r>
            <a:r>
              <a:rPr lang="ko-KR" altLang="en-US" sz="3000" dirty="0"/>
              <a:t>연동 및 배포 자동화</a:t>
            </a:r>
            <a:endParaRPr dirty="0"/>
          </a:p>
        </p:txBody>
      </p:sp>
      <p:sp>
        <p:nvSpPr>
          <p:cNvPr id="148" name="Google Shape;148;p4">
            <a:extLst>
              <a:ext uri="{FF2B5EF4-FFF2-40B4-BE49-F238E27FC236}">
                <a16:creationId xmlns:a16="http://schemas.microsoft.com/office/drawing/2014/main" id="{8E03E4F8-E687-4EA6-639D-EE58142286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7038" y="1401763"/>
            <a:ext cx="11241221" cy="509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56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✔"/>
            </a:pPr>
            <a:r>
              <a:rPr lang="ko-KR" sz="2000" b="0" dirty="0"/>
              <a:t>생성된 인스턴스의 목록 스크린샷 - 인스턴스에 서버 </a:t>
            </a:r>
            <a:endParaRPr sz="2000" b="0" dirty="0"/>
          </a:p>
          <a:p>
            <a:pPr marL="355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None/>
            </a:pPr>
            <a:endParaRPr sz="2000" b="0" dirty="0"/>
          </a:p>
          <a:p>
            <a:pPr marL="355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None/>
            </a:pPr>
            <a:endParaRPr sz="2000" b="0" dirty="0"/>
          </a:p>
          <a:p>
            <a:pPr marL="355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None/>
            </a:pPr>
            <a:endParaRPr sz="2000" b="0" dirty="0"/>
          </a:p>
          <a:p>
            <a:pPr marL="355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None/>
            </a:pPr>
            <a:endParaRPr sz="2000" b="0" dirty="0"/>
          </a:p>
          <a:p>
            <a:pPr marL="355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None/>
            </a:pPr>
            <a:endParaRPr sz="2000" b="0" dirty="0"/>
          </a:p>
          <a:p>
            <a:pPr marL="355600" lvl="0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✔"/>
            </a:pPr>
            <a:r>
              <a:rPr lang="ko-KR" sz="2000" b="0" dirty="0"/>
              <a:t>인스턴스에서 동작 중인 </a:t>
            </a:r>
            <a:r>
              <a:rPr lang="ko-KR" sz="2000" b="0" dirty="0" err="1"/>
              <a:t>CodeDeploy</a:t>
            </a:r>
            <a:r>
              <a:rPr lang="ko-KR" sz="2000" b="0" dirty="0"/>
              <a:t> </a:t>
            </a:r>
            <a:r>
              <a:rPr lang="ko-KR" sz="2000" b="0" dirty="0" err="1"/>
              <a:t>Agent</a:t>
            </a:r>
            <a:r>
              <a:rPr lang="ko-KR" sz="2000" b="0" dirty="0"/>
              <a:t> 화면</a:t>
            </a:r>
            <a:endParaRPr sz="2000" b="0" dirty="0"/>
          </a:p>
        </p:txBody>
      </p:sp>
      <p:grpSp>
        <p:nvGrpSpPr>
          <p:cNvPr id="150" name="Google Shape;150;p4">
            <a:extLst>
              <a:ext uri="{FF2B5EF4-FFF2-40B4-BE49-F238E27FC236}">
                <a16:creationId xmlns:a16="http://schemas.microsoft.com/office/drawing/2014/main" id="{4B346A95-CBCC-1F23-55E8-67899076181C}"/>
              </a:ext>
            </a:extLst>
          </p:cNvPr>
          <p:cNvGrpSpPr/>
          <p:nvPr/>
        </p:nvGrpSpPr>
        <p:grpSpPr>
          <a:xfrm>
            <a:off x="867617" y="1912671"/>
            <a:ext cx="6224400" cy="1502213"/>
            <a:chOff x="1489849" y="1758125"/>
            <a:chExt cx="9283222" cy="224043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51" name="Google Shape;151;p4">
              <a:extLst>
                <a:ext uri="{FF2B5EF4-FFF2-40B4-BE49-F238E27FC236}">
                  <a16:creationId xmlns:a16="http://schemas.microsoft.com/office/drawing/2014/main" id="{942B6414-F12A-0489-3419-2F5660B14594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1970" t="64914"/>
            <a:stretch/>
          </p:blipFill>
          <p:spPr>
            <a:xfrm>
              <a:off x="1489849" y="2534788"/>
              <a:ext cx="9283222" cy="1463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4">
              <a:extLst>
                <a:ext uri="{FF2B5EF4-FFF2-40B4-BE49-F238E27FC236}">
                  <a16:creationId xmlns:a16="http://schemas.microsoft.com/office/drawing/2014/main" id="{D0640886-E342-3A49-B81B-CB49C420ACD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r="-4156" b="77184"/>
            <a:stretch/>
          </p:blipFill>
          <p:spPr>
            <a:xfrm>
              <a:off x="1489849" y="1758125"/>
              <a:ext cx="9283222" cy="9519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E0CC18D4-0C8E-6922-BA04-15C433B352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399" y="4534068"/>
            <a:ext cx="8457457" cy="184433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액자 2">
            <a:extLst>
              <a:ext uri="{FF2B5EF4-FFF2-40B4-BE49-F238E27FC236}">
                <a16:creationId xmlns:a16="http://schemas.microsoft.com/office/drawing/2014/main" id="{D6A18465-2DD8-C874-A85E-1B6C6553C753}"/>
              </a:ext>
            </a:extLst>
          </p:cNvPr>
          <p:cNvSpPr/>
          <p:nvPr/>
        </p:nvSpPr>
        <p:spPr>
          <a:xfrm>
            <a:off x="3232727" y="4441259"/>
            <a:ext cx="3611418" cy="369455"/>
          </a:xfrm>
          <a:prstGeom prst="fram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091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 txBox="1">
            <a:spLocks noGrp="1"/>
          </p:cNvSpPr>
          <p:nvPr>
            <p:ph type="sldNum" idx="12"/>
          </p:nvPr>
        </p:nvSpPr>
        <p:spPr>
          <a:xfrm>
            <a:off x="11469950" y="6492875"/>
            <a:ext cx="5950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18</a:t>
            </a:fld>
            <a:endParaRPr/>
          </a:p>
        </p:txBody>
      </p:sp>
      <p:sp>
        <p:nvSpPr>
          <p:cNvPr id="158" name="Google Shape;158;p5"/>
          <p:cNvSpPr txBox="1">
            <a:spLocks noGrp="1"/>
          </p:cNvSpPr>
          <p:nvPr>
            <p:ph type="title"/>
          </p:nvPr>
        </p:nvSpPr>
        <p:spPr>
          <a:xfrm>
            <a:off x="177800" y="144035"/>
            <a:ext cx="10515600" cy="75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3000"/>
            </a:pPr>
            <a:r>
              <a:rPr lang="ko-KR" altLang="ko-KR" sz="3000" dirty="0"/>
              <a:t>C</a:t>
            </a:r>
            <a:r>
              <a:rPr lang="en-US" altLang="ko-KR" sz="3000" dirty="0"/>
              <a:t>D</a:t>
            </a:r>
            <a:r>
              <a:rPr lang="ko-KR" altLang="ko-KR" sz="3000" dirty="0"/>
              <a:t> 환경 구축 :</a:t>
            </a:r>
            <a:r>
              <a:rPr lang="en-US" altLang="ko-KR" sz="3000" dirty="0"/>
              <a:t> </a:t>
            </a:r>
            <a:r>
              <a:rPr lang="en-US" altLang="ko-KR" sz="3000" dirty="0" err="1"/>
              <a:t>CodeDeploy</a:t>
            </a:r>
            <a:r>
              <a:rPr lang="en-US" altLang="ko-KR" sz="3000" dirty="0"/>
              <a:t> </a:t>
            </a:r>
            <a:r>
              <a:rPr lang="ko-KR" altLang="en-US" sz="3000" dirty="0"/>
              <a:t>연동 및 배포 자동화</a:t>
            </a:r>
            <a:endParaRPr dirty="0"/>
          </a:p>
        </p:txBody>
      </p:sp>
      <p:sp>
        <p:nvSpPr>
          <p:cNvPr id="159" name="Google Shape;159;p5"/>
          <p:cNvSpPr txBox="1">
            <a:spLocks noGrp="1"/>
          </p:cNvSpPr>
          <p:nvPr>
            <p:ph type="body" idx="1"/>
          </p:nvPr>
        </p:nvSpPr>
        <p:spPr>
          <a:xfrm>
            <a:off x="427038" y="1401763"/>
            <a:ext cx="11241221" cy="509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56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✔"/>
            </a:pPr>
            <a:r>
              <a:rPr lang="ko-KR" sz="2000" b="0"/>
              <a:t>인스턴스에서 실행 중인 웹 서비스 화면 스크린샷</a:t>
            </a:r>
            <a:endParaRPr sz="2000" b="0"/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59BC391C-231C-ABD4-74DB-02AA15F9FF9C}"/>
              </a:ext>
            </a:extLst>
          </p:cNvPr>
          <p:cNvGrpSpPr/>
          <p:nvPr/>
        </p:nvGrpSpPr>
        <p:grpSpPr>
          <a:xfrm>
            <a:off x="860042" y="1827069"/>
            <a:ext cx="6352498" cy="4533900"/>
            <a:chOff x="3294401" y="1936750"/>
            <a:chExt cx="5603198" cy="4019550"/>
          </a:xfrm>
        </p:grpSpPr>
        <p:pic>
          <p:nvPicPr>
            <p:cNvPr id="3" name="Picture 1">
              <a:extLst>
                <a:ext uri="{FF2B5EF4-FFF2-40B4-BE49-F238E27FC236}">
                  <a16:creationId xmlns:a16="http://schemas.microsoft.com/office/drawing/2014/main" id="{213086DA-A83F-145B-059A-71E107F416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94401" y="1936750"/>
              <a:ext cx="5603198" cy="4019550"/>
            </a:xfrm>
            <a:prstGeom prst="rect">
              <a:avLst/>
            </a:prstGeom>
          </p:spPr>
        </p:pic>
        <p:cxnSp>
          <p:nvCxnSpPr>
            <p:cNvPr id="4" name="Straight Arrow Connector 2">
              <a:extLst>
                <a:ext uri="{FF2B5EF4-FFF2-40B4-BE49-F238E27FC236}">
                  <a16:creationId xmlns:a16="http://schemas.microsoft.com/office/drawing/2014/main" id="{B1C5892A-4F76-DAF9-3B1F-4FAB54058245}"/>
                </a:ext>
              </a:extLst>
            </p:cNvPr>
            <p:cNvCxnSpPr/>
            <p:nvPr/>
          </p:nvCxnSpPr>
          <p:spPr>
            <a:xfrm flipH="1">
              <a:off x="6680200" y="3073400"/>
              <a:ext cx="1206500" cy="7620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C8B5709D-BE99-8EB5-162A-00885ECB7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>
            <a:extLst>
              <a:ext uri="{FF2B5EF4-FFF2-40B4-BE49-F238E27FC236}">
                <a16:creationId xmlns:a16="http://schemas.microsoft.com/office/drawing/2014/main" id="{457CE6B3-CE7A-B6BF-3865-8523226693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69950" y="6492875"/>
            <a:ext cx="5950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19</a:t>
            </a:fld>
            <a:endParaRPr/>
          </a:p>
        </p:txBody>
      </p:sp>
      <p:sp>
        <p:nvSpPr>
          <p:cNvPr id="158" name="Google Shape;158;p5">
            <a:extLst>
              <a:ext uri="{FF2B5EF4-FFF2-40B4-BE49-F238E27FC236}">
                <a16:creationId xmlns:a16="http://schemas.microsoft.com/office/drawing/2014/main" id="{29F0E6FD-A9A9-6EBE-735C-B12CE5DF82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800" y="144035"/>
            <a:ext cx="10515600" cy="75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3000"/>
            </a:pPr>
            <a:r>
              <a:rPr lang="ko-KR" altLang="ko-KR" sz="3000" dirty="0"/>
              <a:t>C</a:t>
            </a:r>
            <a:r>
              <a:rPr lang="en-US" altLang="ko-KR" sz="3000" dirty="0"/>
              <a:t>D</a:t>
            </a:r>
            <a:r>
              <a:rPr lang="ko-KR" altLang="ko-KR" sz="3000" dirty="0"/>
              <a:t> 환경 구축 :</a:t>
            </a:r>
            <a:r>
              <a:rPr lang="en-US" altLang="ko-KR" sz="3000" dirty="0"/>
              <a:t> </a:t>
            </a:r>
            <a:r>
              <a:rPr lang="en-US" altLang="ko-KR" sz="3000" dirty="0" err="1"/>
              <a:t>CodeDeploy</a:t>
            </a:r>
            <a:r>
              <a:rPr lang="en-US" altLang="ko-KR" sz="3000" dirty="0"/>
              <a:t> </a:t>
            </a:r>
            <a:r>
              <a:rPr lang="ko-KR" altLang="en-US" sz="3000" dirty="0"/>
              <a:t>연동 및 배포 자동화</a:t>
            </a:r>
            <a:endParaRPr dirty="0"/>
          </a:p>
        </p:txBody>
      </p:sp>
      <p:sp>
        <p:nvSpPr>
          <p:cNvPr id="159" name="Google Shape;159;p5">
            <a:extLst>
              <a:ext uri="{FF2B5EF4-FFF2-40B4-BE49-F238E27FC236}">
                <a16:creationId xmlns:a16="http://schemas.microsoft.com/office/drawing/2014/main" id="{501CB82B-4EAA-B36B-6964-27A4CEE1E2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7038" y="1401763"/>
            <a:ext cx="11241221" cy="509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56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✔"/>
            </a:pPr>
            <a:r>
              <a:rPr lang="ko-KR" sz="2000" b="0"/>
              <a:t>인스턴스에서 실행 중인 웹 서비스 화면 스크린샷</a:t>
            </a:r>
            <a:endParaRPr sz="2000" b="0"/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12A3FD8E-AA03-2276-C933-65B1D3AEB1BE}"/>
              </a:ext>
            </a:extLst>
          </p:cNvPr>
          <p:cNvGrpSpPr/>
          <p:nvPr/>
        </p:nvGrpSpPr>
        <p:grpSpPr>
          <a:xfrm>
            <a:off x="860042" y="1827069"/>
            <a:ext cx="6352498" cy="4533900"/>
            <a:chOff x="3294401" y="1936750"/>
            <a:chExt cx="5603198" cy="4019550"/>
          </a:xfrm>
        </p:grpSpPr>
        <p:pic>
          <p:nvPicPr>
            <p:cNvPr id="3" name="Picture 1">
              <a:extLst>
                <a:ext uri="{FF2B5EF4-FFF2-40B4-BE49-F238E27FC236}">
                  <a16:creationId xmlns:a16="http://schemas.microsoft.com/office/drawing/2014/main" id="{5FE467F7-DB6A-58CF-BB9D-E30911FEFA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94401" y="1936750"/>
              <a:ext cx="5603198" cy="4019550"/>
            </a:xfrm>
            <a:prstGeom prst="rect">
              <a:avLst/>
            </a:prstGeom>
          </p:spPr>
        </p:pic>
        <p:cxnSp>
          <p:nvCxnSpPr>
            <p:cNvPr id="4" name="Straight Arrow Connector 2">
              <a:extLst>
                <a:ext uri="{FF2B5EF4-FFF2-40B4-BE49-F238E27FC236}">
                  <a16:creationId xmlns:a16="http://schemas.microsoft.com/office/drawing/2014/main" id="{A2E86402-60CE-4F56-BF3D-7D8EB45FCFDE}"/>
                </a:ext>
              </a:extLst>
            </p:cNvPr>
            <p:cNvCxnSpPr/>
            <p:nvPr/>
          </p:nvCxnSpPr>
          <p:spPr>
            <a:xfrm flipH="1">
              <a:off x="6680200" y="3073400"/>
              <a:ext cx="1206500" cy="7620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8CDCCE2-100D-0723-E926-5DC4C0AB3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540" y="3716530"/>
            <a:ext cx="3924300" cy="177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924C3B6-0952-A4E9-06EB-D1892C7AE6B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312" r="40323"/>
          <a:stretch>
            <a:fillRect/>
          </a:stretch>
        </p:blipFill>
        <p:spPr>
          <a:xfrm>
            <a:off x="7212540" y="5494530"/>
            <a:ext cx="4638290" cy="4924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2A2FEE-173F-B024-3FDB-F6481A09081E}"/>
              </a:ext>
            </a:extLst>
          </p:cNvPr>
          <p:cNvSpPr txBox="1"/>
          <p:nvPr/>
        </p:nvSpPr>
        <p:spPr>
          <a:xfrm>
            <a:off x="7886700" y="6086042"/>
            <a:ext cx="20688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 err="1"/>
              <a:t>백엔드</a:t>
            </a:r>
            <a:r>
              <a:rPr kumimoji="1" lang="ko-KR" altLang="en-US" dirty="0"/>
              <a:t> </a:t>
            </a:r>
            <a:r>
              <a:rPr kumimoji="1" lang="en-US" altLang="ko-KR" dirty="0"/>
              <a:t>/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alb</a:t>
            </a:r>
            <a:r>
              <a:rPr kumimoji="1" lang="en-US" altLang="ko-KR" dirty="0"/>
              <a:t> OK </a:t>
            </a:r>
            <a:r>
              <a:rPr kumimoji="1" lang="ko-KR" altLang="en-US" dirty="0"/>
              <a:t>확인</a:t>
            </a:r>
          </a:p>
        </p:txBody>
      </p:sp>
    </p:spTree>
    <p:extLst>
      <p:ext uri="{BB962C8B-B14F-4D97-AF65-F5344CB8AC3E}">
        <p14:creationId xmlns:p14="http://schemas.microsoft.com/office/powerpoint/2010/main" val="30807652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"/>
          <p:cNvSpPr txBox="1">
            <a:spLocks noGrp="1"/>
          </p:cNvSpPr>
          <p:nvPr>
            <p:ph type="sldNum" idx="12"/>
          </p:nvPr>
        </p:nvSpPr>
        <p:spPr>
          <a:xfrm>
            <a:off x="11469950" y="6492875"/>
            <a:ext cx="5950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20</a:t>
            </a:fld>
            <a:endParaRPr/>
          </a:p>
        </p:txBody>
      </p:sp>
      <p:sp>
        <p:nvSpPr>
          <p:cNvPr id="176" name="Google Shape;176;p7"/>
          <p:cNvSpPr txBox="1">
            <a:spLocks noGrp="1"/>
          </p:cNvSpPr>
          <p:nvPr>
            <p:ph type="title"/>
          </p:nvPr>
        </p:nvSpPr>
        <p:spPr>
          <a:xfrm>
            <a:off x="177800" y="144035"/>
            <a:ext cx="10515600" cy="75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3000"/>
            </a:pPr>
            <a:r>
              <a:rPr lang="ko-KR" altLang="en-US" sz="3000" dirty="0"/>
              <a:t>운영 인프라 확장 </a:t>
            </a:r>
            <a:r>
              <a:rPr lang="en-US" altLang="ko-KR" sz="3000" dirty="0"/>
              <a:t>: ALB, Auto Scaling Group </a:t>
            </a:r>
            <a:endParaRPr sz="3000" dirty="0"/>
          </a:p>
        </p:txBody>
      </p:sp>
      <p:sp>
        <p:nvSpPr>
          <p:cNvPr id="177" name="Google Shape;177;p7"/>
          <p:cNvSpPr txBox="1">
            <a:spLocks noGrp="1"/>
          </p:cNvSpPr>
          <p:nvPr>
            <p:ph type="body" idx="1"/>
          </p:nvPr>
        </p:nvSpPr>
        <p:spPr>
          <a:xfrm>
            <a:off x="427038" y="1401763"/>
            <a:ext cx="11241221" cy="518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56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✔"/>
            </a:pPr>
            <a:r>
              <a:rPr lang="ko-KR" sz="2000" b="0" dirty="0" err="1"/>
              <a:t>Deploy</a:t>
            </a:r>
            <a:r>
              <a:rPr lang="ko-KR" sz="2000" b="0" dirty="0"/>
              <a:t> 단계에서 Auto </a:t>
            </a:r>
            <a:r>
              <a:rPr lang="ko-KR" sz="2000" b="0" dirty="0" err="1"/>
              <a:t>Scaling이</a:t>
            </a:r>
            <a:r>
              <a:rPr lang="ko-KR" sz="2000" b="0" dirty="0"/>
              <a:t> 적용된 성공된 파이프라인</a:t>
            </a:r>
            <a:endParaRPr lang="ko-KR" altLang="en-US" sz="2000" b="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0DC86F1-957D-89F9-31B4-2F2E1F2173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142"/>
          <a:stretch>
            <a:fillRect/>
          </a:stretch>
        </p:blipFill>
        <p:spPr>
          <a:xfrm>
            <a:off x="427038" y="2808397"/>
            <a:ext cx="6321706" cy="2052863"/>
          </a:xfrm>
          <a:prstGeom prst="rect">
            <a:avLst/>
          </a:prstGeom>
        </p:spPr>
      </p:pic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39A153FE-FA8E-B851-9C6E-78F9EDC58A77}"/>
              </a:ext>
            </a:extLst>
          </p:cNvPr>
          <p:cNvSpPr/>
          <p:nvPr/>
        </p:nvSpPr>
        <p:spPr>
          <a:xfrm>
            <a:off x="7264246" y="2808397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Aws Load Balancer</a:t>
            </a:r>
            <a:endParaRPr kumimoji="1" lang="ko-KR" altLang="en-US" sz="1600" b="1" dirty="0">
              <a:solidFill>
                <a:schemeClr val="bg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D0829970-CE83-38E2-E466-D17D72B87528}"/>
              </a:ext>
            </a:extLst>
          </p:cNvPr>
          <p:cNvSpPr/>
          <p:nvPr/>
        </p:nvSpPr>
        <p:spPr>
          <a:xfrm>
            <a:off x="7264246" y="3611619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Audo Scaling Group</a:t>
            </a:r>
            <a:endParaRPr kumimoji="1" lang="ko-KR" altLang="en-US" sz="1600" b="1" dirty="0">
              <a:solidFill>
                <a:schemeClr val="bg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A6DF5EA6-E289-BB09-9D60-665A67A25EB6}"/>
              </a:ext>
            </a:extLst>
          </p:cNvPr>
          <p:cNvSpPr/>
          <p:nvPr/>
        </p:nvSpPr>
        <p:spPr>
          <a:xfrm>
            <a:off x="7264246" y="4414841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EC2 Instance 1</a:t>
            </a:r>
            <a:endParaRPr kumimoji="1" lang="ko-KR" altLang="en-US" sz="1600" b="1" dirty="0">
              <a:solidFill>
                <a:schemeClr val="bg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3" name="Google Shape;139;p2">
            <a:extLst>
              <a:ext uri="{FF2B5EF4-FFF2-40B4-BE49-F238E27FC236}">
                <a16:creationId xmlns:a16="http://schemas.microsoft.com/office/drawing/2014/main" id="{2855DD20-2126-1F5C-14BF-C2A970AACB83}"/>
              </a:ext>
            </a:extLst>
          </p:cNvPr>
          <p:cNvSpPr txBox="1"/>
          <p:nvPr/>
        </p:nvSpPr>
        <p:spPr>
          <a:xfrm rot="5400000">
            <a:off x="8796407" y="3205003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14" name="Google Shape;139;p2">
            <a:extLst>
              <a:ext uri="{FF2B5EF4-FFF2-40B4-BE49-F238E27FC236}">
                <a16:creationId xmlns:a16="http://schemas.microsoft.com/office/drawing/2014/main" id="{AF60F3B5-E7B8-CC2D-8C5A-3CA177872F1F}"/>
              </a:ext>
            </a:extLst>
          </p:cNvPr>
          <p:cNvSpPr txBox="1"/>
          <p:nvPr/>
        </p:nvSpPr>
        <p:spPr>
          <a:xfrm rot="5400000">
            <a:off x="9230516" y="3994870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16" name="Google Shape;139;p2">
            <a:extLst>
              <a:ext uri="{FF2B5EF4-FFF2-40B4-BE49-F238E27FC236}">
                <a16:creationId xmlns:a16="http://schemas.microsoft.com/office/drawing/2014/main" id="{457933BC-7EAF-1A44-6069-28C0074D8BA0}"/>
              </a:ext>
            </a:extLst>
          </p:cNvPr>
          <p:cNvSpPr txBox="1"/>
          <p:nvPr/>
        </p:nvSpPr>
        <p:spPr>
          <a:xfrm rot="5400000">
            <a:off x="9253607" y="5338459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17" name="Google Shape;139;p2">
            <a:extLst>
              <a:ext uri="{FF2B5EF4-FFF2-40B4-BE49-F238E27FC236}">
                <a16:creationId xmlns:a16="http://schemas.microsoft.com/office/drawing/2014/main" id="{7DAD9265-75CF-6E98-9541-A20ED0DB0D10}"/>
              </a:ext>
            </a:extLst>
          </p:cNvPr>
          <p:cNvSpPr txBox="1"/>
          <p:nvPr/>
        </p:nvSpPr>
        <p:spPr>
          <a:xfrm rot="5400000">
            <a:off x="8770577" y="2369052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715D6E-CC6D-31EA-8C13-223C4E4F5C32}"/>
              </a:ext>
            </a:extLst>
          </p:cNvPr>
          <p:cNvSpPr txBox="1"/>
          <p:nvPr/>
        </p:nvSpPr>
        <p:spPr>
          <a:xfrm>
            <a:off x="7439307" y="2148620"/>
            <a:ext cx="2951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사용자</a:t>
            </a:r>
            <a:endParaRPr lang="en-US" altLang="ko-KR" dirty="0"/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C72C6E9B-1685-1F2A-A0A0-3FDFA2EE102E}"/>
              </a:ext>
            </a:extLst>
          </p:cNvPr>
          <p:cNvSpPr/>
          <p:nvPr/>
        </p:nvSpPr>
        <p:spPr>
          <a:xfrm>
            <a:off x="7416646" y="4567241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EC2 Instance 1</a:t>
            </a:r>
            <a:endParaRPr kumimoji="1" lang="ko-KR" altLang="en-US" sz="1600" b="1" dirty="0">
              <a:solidFill>
                <a:schemeClr val="bg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ABBB06CF-4E11-5E29-F3C0-B8E18CA069D4}"/>
              </a:ext>
            </a:extLst>
          </p:cNvPr>
          <p:cNvSpPr/>
          <p:nvPr/>
        </p:nvSpPr>
        <p:spPr>
          <a:xfrm>
            <a:off x="7569046" y="4719641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EC2 Instance 1</a:t>
            </a:r>
            <a:endParaRPr kumimoji="1" lang="ko-KR" altLang="en-US" sz="1600" b="1" dirty="0">
              <a:solidFill>
                <a:schemeClr val="bg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678259FB-0120-01A0-263A-55BBC63F36FB}"/>
              </a:ext>
            </a:extLst>
          </p:cNvPr>
          <p:cNvSpPr/>
          <p:nvPr/>
        </p:nvSpPr>
        <p:spPr>
          <a:xfrm>
            <a:off x="7721446" y="4872041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EC2 Instance 1</a:t>
            </a:r>
            <a:endParaRPr kumimoji="1" lang="ko-KR" altLang="en-US" sz="1600" b="1" dirty="0">
              <a:solidFill>
                <a:schemeClr val="bg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B7F5DE-68A1-02B5-5FA9-9D8646A427A5}"/>
              </a:ext>
            </a:extLst>
          </p:cNvPr>
          <p:cNvSpPr txBox="1"/>
          <p:nvPr/>
        </p:nvSpPr>
        <p:spPr>
          <a:xfrm>
            <a:off x="7899246" y="5809060"/>
            <a:ext cx="2951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/>
              <a:t>CloudWatch </a:t>
            </a:r>
            <a:r>
              <a:rPr lang="ko-KR" altLang="en-US" dirty="0"/>
              <a:t>로그 수집 </a:t>
            </a:r>
            <a:r>
              <a:rPr lang="en-US" altLang="ko-KR" dirty="0"/>
              <a:t>+</a:t>
            </a:r>
            <a:r>
              <a:rPr lang="ko-KR" altLang="en-US" dirty="0"/>
              <a:t> 수동 승인</a:t>
            </a:r>
            <a:endParaRPr lang="en-US" altLang="ko-KR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D7F86118-CE71-4FC9-7EC8-CDD82ECB8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">
            <a:extLst>
              <a:ext uri="{FF2B5EF4-FFF2-40B4-BE49-F238E27FC236}">
                <a16:creationId xmlns:a16="http://schemas.microsoft.com/office/drawing/2014/main" id="{9255E478-D156-1872-4DF3-E548577F1F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69950" y="6492875"/>
            <a:ext cx="5950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21</a:t>
            </a:fld>
            <a:endParaRPr/>
          </a:p>
        </p:txBody>
      </p:sp>
      <p:sp>
        <p:nvSpPr>
          <p:cNvPr id="176" name="Google Shape;176;p7">
            <a:extLst>
              <a:ext uri="{FF2B5EF4-FFF2-40B4-BE49-F238E27FC236}">
                <a16:creationId xmlns:a16="http://schemas.microsoft.com/office/drawing/2014/main" id="{1228068C-2F19-0916-3E5D-B4ABB33E6F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800" y="144035"/>
            <a:ext cx="10515600" cy="75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3000"/>
            </a:pPr>
            <a:r>
              <a:rPr lang="ko-KR" altLang="en-US" sz="3000" dirty="0"/>
              <a:t>운영 인프라 확장 </a:t>
            </a:r>
            <a:r>
              <a:rPr lang="en-US" altLang="ko-KR" sz="3000" dirty="0"/>
              <a:t>: ALB, Auto Scaling Group </a:t>
            </a:r>
            <a:endParaRPr sz="3000" dirty="0"/>
          </a:p>
        </p:txBody>
      </p:sp>
      <p:sp>
        <p:nvSpPr>
          <p:cNvPr id="177" name="Google Shape;177;p7">
            <a:extLst>
              <a:ext uri="{FF2B5EF4-FFF2-40B4-BE49-F238E27FC236}">
                <a16:creationId xmlns:a16="http://schemas.microsoft.com/office/drawing/2014/main" id="{E0557103-2C1E-9C29-3093-3F5D448500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7038" y="1401763"/>
            <a:ext cx="11241221" cy="518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56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✔"/>
            </a:pPr>
            <a:r>
              <a:rPr lang="ko-KR" sz="2000" b="0" dirty="0" err="1"/>
              <a:t>Deploy</a:t>
            </a:r>
            <a:r>
              <a:rPr lang="ko-KR" sz="2000" b="0" dirty="0"/>
              <a:t> 단계에서 Auto </a:t>
            </a:r>
            <a:r>
              <a:rPr lang="ko-KR" sz="2000" b="0" dirty="0" err="1"/>
              <a:t>Scaling이</a:t>
            </a:r>
            <a:r>
              <a:rPr lang="ko-KR" sz="2000" b="0" dirty="0"/>
              <a:t> 적용된 성공된 파이프라인</a:t>
            </a:r>
            <a:endParaRPr lang="ko-KR" altLang="en-US" sz="2000" b="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B3E7279-1F3F-508D-3BFB-8A4D24DB8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51" y="2518128"/>
            <a:ext cx="11251898" cy="267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1473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 txBox="1">
            <a:spLocks noGrp="1"/>
          </p:cNvSpPr>
          <p:nvPr>
            <p:ph type="sldNum" idx="12"/>
          </p:nvPr>
        </p:nvSpPr>
        <p:spPr>
          <a:xfrm>
            <a:off x="11469950" y="6492875"/>
            <a:ext cx="5950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22</a:t>
            </a:fld>
            <a:endParaRPr/>
          </a:p>
        </p:txBody>
      </p:sp>
      <p:sp>
        <p:nvSpPr>
          <p:cNvPr id="184" name="Google Shape;184;p8"/>
          <p:cNvSpPr txBox="1">
            <a:spLocks noGrp="1"/>
          </p:cNvSpPr>
          <p:nvPr>
            <p:ph type="title"/>
          </p:nvPr>
        </p:nvSpPr>
        <p:spPr>
          <a:xfrm>
            <a:off x="177800" y="144035"/>
            <a:ext cx="10515600" cy="75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3000"/>
            </a:pPr>
            <a:r>
              <a:rPr lang="ko-KR" altLang="en-US" sz="3000" dirty="0"/>
              <a:t>운영 인프라 확장 </a:t>
            </a:r>
            <a:r>
              <a:rPr lang="en-US" altLang="ko-KR" sz="3000" dirty="0"/>
              <a:t>: ALB, Auto Scaling Group </a:t>
            </a:r>
            <a:endParaRPr sz="3000" dirty="0"/>
          </a:p>
        </p:txBody>
      </p:sp>
      <p:sp>
        <p:nvSpPr>
          <p:cNvPr id="185" name="Google Shape;185;p8"/>
          <p:cNvSpPr txBox="1">
            <a:spLocks noGrp="1"/>
          </p:cNvSpPr>
          <p:nvPr>
            <p:ph type="body" idx="1"/>
          </p:nvPr>
        </p:nvSpPr>
        <p:spPr>
          <a:xfrm>
            <a:off x="427038" y="1401763"/>
            <a:ext cx="11241221" cy="509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56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✔"/>
            </a:pPr>
            <a:r>
              <a:rPr lang="ko-KR" sz="2000" b="0" dirty="0"/>
              <a:t>Auto </a:t>
            </a:r>
            <a:r>
              <a:rPr lang="ko-KR" sz="2000" b="0" dirty="0" err="1"/>
              <a:t>Scaling의</a:t>
            </a:r>
            <a:r>
              <a:rPr lang="ko-KR" sz="2000" b="0" dirty="0"/>
              <a:t> 크기만큼 실행 중인 인스턴스의 목록 스크린샷</a:t>
            </a:r>
            <a:endParaRPr sz="2000" b="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8288E17-A09C-6FAB-E10C-6727D00EC399}"/>
              </a:ext>
            </a:extLst>
          </p:cNvPr>
          <p:cNvGrpSpPr/>
          <p:nvPr/>
        </p:nvGrpSpPr>
        <p:grpSpPr>
          <a:xfrm>
            <a:off x="738908" y="1982984"/>
            <a:ext cx="10239261" cy="3798980"/>
            <a:chOff x="738909" y="1982984"/>
            <a:chExt cx="7772400" cy="2883723"/>
          </a:xfrm>
        </p:grpSpPr>
        <p:pic>
          <p:nvPicPr>
            <p:cNvPr id="2" name="그림 1" descr="텍스트, 스크린샷, 폰트, 번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A74413B-1297-D504-E0D2-131429EBB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8909" y="1982984"/>
              <a:ext cx="7772400" cy="1257557"/>
            </a:xfrm>
            <a:prstGeom prst="rect">
              <a:avLst/>
            </a:prstGeom>
          </p:spPr>
        </p:pic>
        <p:pic>
          <p:nvPicPr>
            <p:cNvPr id="3" name="그림 2" descr="텍스트, 스크린샷, 폰트, 번호이(가) 표시된 사진">
              <a:extLst>
                <a:ext uri="{FF2B5EF4-FFF2-40B4-BE49-F238E27FC236}">
                  <a16:creationId xmlns:a16="http://schemas.microsoft.com/office/drawing/2014/main" id="{202BA228-C4A4-379D-6DF8-FFE601E96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8909" y="3016136"/>
              <a:ext cx="7772400" cy="185057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 txBox="1">
            <a:spLocks noGrp="1"/>
          </p:cNvSpPr>
          <p:nvPr>
            <p:ph type="sldNum" idx="12"/>
          </p:nvPr>
        </p:nvSpPr>
        <p:spPr>
          <a:xfrm>
            <a:off x="11469950" y="6492875"/>
            <a:ext cx="5950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23</a:t>
            </a:fld>
            <a:endParaRPr/>
          </a:p>
        </p:txBody>
      </p:sp>
      <p:sp>
        <p:nvSpPr>
          <p:cNvPr id="167" name="Google Shape;167;p6"/>
          <p:cNvSpPr txBox="1">
            <a:spLocks noGrp="1"/>
          </p:cNvSpPr>
          <p:nvPr>
            <p:ph type="title"/>
          </p:nvPr>
        </p:nvSpPr>
        <p:spPr>
          <a:xfrm>
            <a:off x="177800" y="144035"/>
            <a:ext cx="10515600" cy="75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3000"/>
            </a:pPr>
            <a:r>
              <a:rPr lang="ko-KR" altLang="en-US" sz="3000" dirty="0"/>
              <a:t>모니터링 </a:t>
            </a:r>
            <a:r>
              <a:rPr lang="en-US" altLang="ko-KR" sz="3000" dirty="0"/>
              <a:t>:</a:t>
            </a:r>
            <a:r>
              <a:rPr lang="ko-KR" altLang="en-US" sz="3000" dirty="0"/>
              <a:t> </a:t>
            </a:r>
            <a:r>
              <a:rPr lang="en-US" altLang="ko-KR" sz="3000" dirty="0"/>
              <a:t>CloudWatch + SNS</a:t>
            </a:r>
            <a:r>
              <a:rPr lang="ko-KR" altLang="en-US" sz="3000" dirty="0"/>
              <a:t> 기반 운영 확인</a:t>
            </a:r>
            <a:endParaRPr sz="3000" dirty="0"/>
          </a:p>
        </p:txBody>
      </p:sp>
      <p:sp>
        <p:nvSpPr>
          <p:cNvPr id="168" name="Google Shape;168;p6"/>
          <p:cNvSpPr txBox="1">
            <a:spLocks noGrp="1"/>
          </p:cNvSpPr>
          <p:nvPr>
            <p:ph type="body" idx="1"/>
          </p:nvPr>
        </p:nvSpPr>
        <p:spPr>
          <a:xfrm>
            <a:off x="427038" y="1401763"/>
            <a:ext cx="11241221" cy="509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56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✔"/>
            </a:pPr>
            <a:r>
              <a:rPr lang="ko-KR" sz="2000" b="0" dirty="0" err="1"/>
              <a:t>CloudWatch</a:t>
            </a:r>
            <a:r>
              <a:rPr lang="ko-KR" sz="2000" b="0" dirty="0"/>
              <a:t> </a:t>
            </a:r>
            <a:r>
              <a:rPr lang="ko-KR" sz="2000" b="0" dirty="0" err="1"/>
              <a:t>Agent의</a:t>
            </a:r>
            <a:r>
              <a:rPr lang="ko-KR" sz="2000" b="0" dirty="0"/>
              <a:t> 상태 확인 및 수집된 로그 그룹 스크린샷</a:t>
            </a:r>
            <a:endParaRPr sz="2000" b="0" dirty="0"/>
          </a:p>
        </p:txBody>
      </p:sp>
      <p:pic>
        <p:nvPicPr>
          <p:cNvPr id="169" name="Google Shape;16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741" y="1905333"/>
            <a:ext cx="10229555" cy="970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722" y="2993489"/>
            <a:ext cx="4398275" cy="3151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9ADB0B6-F885-035F-4CD7-4971F147A1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205" y="3429000"/>
            <a:ext cx="6544150" cy="212202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>
            <a:spLocks noGrp="1"/>
          </p:cNvSpPr>
          <p:nvPr>
            <p:ph type="sldNum" idx="12"/>
          </p:nvPr>
        </p:nvSpPr>
        <p:spPr>
          <a:xfrm>
            <a:off x="11469950" y="6492875"/>
            <a:ext cx="5950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24</a:t>
            </a:fld>
            <a:endParaRPr/>
          </a:p>
        </p:txBody>
      </p:sp>
      <p:sp>
        <p:nvSpPr>
          <p:cNvPr id="192" name="Google Shape;192;p9"/>
          <p:cNvSpPr txBox="1">
            <a:spLocks noGrp="1"/>
          </p:cNvSpPr>
          <p:nvPr>
            <p:ph type="title"/>
          </p:nvPr>
        </p:nvSpPr>
        <p:spPr>
          <a:xfrm>
            <a:off x="177800" y="144035"/>
            <a:ext cx="10515600" cy="75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3000"/>
            </a:pPr>
            <a:r>
              <a:rPr lang="ko-KR" altLang="en-US" sz="3000" dirty="0"/>
              <a:t>모니터링 </a:t>
            </a:r>
            <a:r>
              <a:rPr lang="en-US" altLang="ko-KR" sz="3000" dirty="0"/>
              <a:t>:</a:t>
            </a:r>
            <a:r>
              <a:rPr lang="ko-KR" altLang="en-US" sz="3000" dirty="0"/>
              <a:t> </a:t>
            </a:r>
            <a:r>
              <a:rPr lang="en-US" altLang="ko-KR" sz="3000" dirty="0"/>
              <a:t>CloudWatch + SNS</a:t>
            </a:r>
            <a:r>
              <a:rPr lang="ko-KR" altLang="en-US" sz="3000" dirty="0"/>
              <a:t> 기반 운영 확인</a:t>
            </a:r>
            <a:endParaRPr dirty="0"/>
          </a:p>
        </p:txBody>
      </p:sp>
      <p:sp>
        <p:nvSpPr>
          <p:cNvPr id="2" name="Google Shape;193;p9">
            <a:extLst>
              <a:ext uri="{FF2B5EF4-FFF2-40B4-BE49-F238E27FC236}">
                <a16:creationId xmlns:a16="http://schemas.microsoft.com/office/drawing/2014/main" id="{8F22A8BB-733D-0F98-78AC-65F2B492703F}"/>
              </a:ext>
            </a:extLst>
          </p:cNvPr>
          <p:cNvSpPr txBox="1">
            <a:spLocks noGrp="1"/>
          </p:cNvSpPr>
          <p:nvPr/>
        </p:nvSpPr>
        <p:spPr>
          <a:xfrm>
            <a:off x="228729" y="1401763"/>
            <a:ext cx="11241221" cy="509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937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4F55"/>
              </a:buClr>
              <a:buSzPts val="2600"/>
              <a:buFont typeface="Noto Sans Symbols"/>
              <a:buChar char="✔"/>
              <a:defRPr sz="2600" b="1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04F5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04F55"/>
              </a:buClr>
              <a:buSzPts val="1800"/>
              <a:buFont typeface="Malgun Gothic"/>
              <a:buChar char="–"/>
              <a:defRPr sz="1800" b="0" i="0" u="none" strike="noStrike" cap="none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3556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✔"/>
            </a:pPr>
            <a:r>
              <a:rPr lang="ko-KR" sz="2000" b="0" dirty="0"/>
              <a:t> SNS 구독 생성된 스크린샷</a:t>
            </a:r>
            <a:endParaRPr sz="2000" b="0" dirty="0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96F2110C-C65F-D6B8-876C-78A20CD95B2B}"/>
              </a:ext>
            </a:extLst>
          </p:cNvPr>
          <p:cNvSpPr/>
          <p:nvPr/>
        </p:nvSpPr>
        <p:spPr>
          <a:xfrm>
            <a:off x="7517361" y="3092078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 err="1">
                <a:solidFill>
                  <a:schemeClr val="bg2">
                    <a:lumMod val="90000"/>
                    <a:lumOff val="10000"/>
                  </a:schemeClr>
                </a:solidFill>
              </a:rPr>
              <a:t>CodeBuild</a:t>
            </a:r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 완료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70C415A7-91B6-2D4A-3059-B5433BA5E6F1}"/>
              </a:ext>
            </a:extLst>
          </p:cNvPr>
          <p:cNvSpPr/>
          <p:nvPr/>
        </p:nvSpPr>
        <p:spPr>
          <a:xfrm>
            <a:off x="7517361" y="3895300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해당 이메일 알림</a:t>
            </a:r>
          </a:p>
        </p:txBody>
      </p:sp>
      <p:sp>
        <p:nvSpPr>
          <p:cNvPr id="8" name="Google Shape;139;p2">
            <a:extLst>
              <a:ext uri="{FF2B5EF4-FFF2-40B4-BE49-F238E27FC236}">
                <a16:creationId xmlns:a16="http://schemas.microsoft.com/office/drawing/2014/main" id="{58CE0204-A42C-83DA-0585-D840E230A78B}"/>
              </a:ext>
            </a:extLst>
          </p:cNvPr>
          <p:cNvSpPr txBox="1"/>
          <p:nvPr/>
        </p:nvSpPr>
        <p:spPr>
          <a:xfrm rot="5400000">
            <a:off x="9049522" y="3488684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B01B6B7-090D-815D-38BC-154CC7418BE1}"/>
              </a:ext>
            </a:extLst>
          </p:cNvPr>
          <p:cNvGrpSpPr/>
          <p:nvPr/>
        </p:nvGrpSpPr>
        <p:grpSpPr>
          <a:xfrm>
            <a:off x="722050" y="2445495"/>
            <a:ext cx="6279114" cy="3010742"/>
            <a:chOff x="657395" y="2109272"/>
            <a:chExt cx="6572498" cy="3151415"/>
          </a:xfrm>
        </p:grpSpPr>
        <p:pic>
          <p:nvPicPr>
            <p:cNvPr id="3" name="Picture 1">
              <a:extLst>
                <a:ext uri="{FF2B5EF4-FFF2-40B4-BE49-F238E27FC236}">
                  <a16:creationId xmlns:a16="http://schemas.microsoft.com/office/drawing/2014/main" id="{5567F97C-AF91-4174-7009-8C3727E95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25413"/>
            <a:stretch>
              <a:fillRect/>
            </a:stretch>
          </p:blipFill>
          <p:spPr>
            <a:xfrm>
              <a:off x="657395" y="2109272"/>
              <a:ext cx="6445369" cy="3151415"/>
            </a:xfrm>
            <a:prstGeom prst="rect">
              <a:avLst/>
            </a:prstGeom>
          </p:spPr>
        </p:pic>
        <p:pic>
          <p:nvPicPr>
            <p:cNvPr id="9" name="Picture 1">
              <a:extLst>
                <a:ext uri="{FF2B5EF4-FFF2-40B4-BE49-F238E27FC236}">
                  <a16:creationId xmlns:a16="http://schemas.microsoft.com/office/drawing/2014/main" id="{92EA65F1-D73B-85C7-1384-AD73CA6079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9236"/>
            <a:stretch>
              <a:fillRect/>
            </a:stretch>
          </p:blipFill>
          <p:spPr>
            <a:xfrm>
              <a:off x="5435600" y="2109272"/>
              <a:ext cx="1794293" cy="3151415"/>
            </a:xfrm>
            <a:prstGeom prst="rect">
              <a:avLst/>
            </a:prstGeom>
          </p:spPr>
        </p:pic>
      </p:grp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DBA9567B-F968-522E-177C-58AE26F628C5}"/>
              </a:ext>
            </a:extLst>
          </p:cNvPr>
          <p:cNvCxnSpPr>
            <a:cxnSpLocks/>
          </p:cNvCxnSpPr>
          <p:nvPr/>
        </p:nvCxnSpPr>
        <p:spPr>
          <a:xfrm>
            <a:off x="1065916" y="4178551"/>
            <a:ext cx="54494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960E8A8E-DA4E-7BB0-9E33-053C5AAA819B}"/>
              </a:ext>
            </a:extLst>
          </p:cNvPr>
          <p:cNvCxnSpPr>
            <a:cxnSpLocks/>
          </p:cNvCxnSpPr>
          <p:nvPr/>
        </p:nvCxnSpPr>
        <p:spPr>
          <a:xfrm>
            <a:off x="1065916" y="4220115"/>
            <a:ext cx="54494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 txBox="1">
            <a:spLocks noGrp="1"/>
          </p:cNvSpPr>
          <p:nvPr>
            <p:ph type="sldNum" idx="12"/>
          </p:nvPr>
        </p:nvSpPr>
        <p:spPr>
          <a:xfrm>
            <a:off x="11469950" y="6492875"/>
            <a:ext cx="5950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25</a:t>
            </a:fld>
            <a:endParaRPr/>
          </a:p>
        </p:txBody>
      </p:sp>
      <p:sp>
        <p:nvSpPr>
          <p:cNvPr id="208" name="Google Shape;208;p11"/>
          <p:cNvSpPr txBox="1">
            <a:spLocks noGrp="1"/>
          </p:cNvSpPr>
          <p:nvPr>
            <p:ph type="title"/>
          </p:nvPr>
        </p:nvSpPr>
        <p:spPr>
          <a:xfrm>
            <a:off x="177800" y="144035"/>
            <a:ext cx="10515600" cy="75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3000"/>
            </a:pPr>
            <a:r>
              <a:rPr lang="ko-KR" altLang="en-US" sz="3000" dirty="0"/>
              <a:t>수동 승인 이메일</a:t>
            </a:r>
            <a:endParaRPr dirty="0"/>
          </a:p>
        </p:txBody>
      </p:sp>
      <p:pic>
        <p:nvPicPr>
          <p:cNvPr id="16" name="Google Shape;210;p1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8D8E86-62FC-6B13-898F-772ADC5A82D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750" y="2309820"/>
            <a:ext cx="3327576" cy="338738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" name="Google Shape;212;p11">
            <a:extLst>
              <a:ext uri="{FF2B5EF4-FFF2-40B4-BE49-F238E27FC236}">
                <a16:creationId xmlns:a16="http://schemas.microsoft.com/office/drawing/2014/main" id="{72BD935A-EF6F-1172-CE1C-F22019127407}"/>
              </a:ext>
            </a:extLst>
          </p:cNvPr>
          <p:cNvSpPr/>
          <p:nvPr/>
        </p:nvSpPr>
        <p:spPr>
          <a:xfrm>
            <a:off x="3842879" y="3761496"/>
            <a:ext cx="390793" cy="27518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2">
              <a:lumMod val="25000"/>
              <a:lumOff val="75000"/>
            </a:schemeClr>
          </a:solidFill>
          <a:ln w="19050" cap="flat" cmpd="sng">
            <a:solidFill>
              <a:srgbClr val="08283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201;p10">
            <a:extLst>
              <a:ext uri="{FF2B5EF4-FFF2-40B4-BE49-F238E27FC236}">
                <a16:creationId xmlns:a16="http://schemas.microsoft.com/office/drawing/2014/main" id="{AF044584-CD45-FB06-7B0B-82B422D9AE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7038" y="1401763"/>
            <a:ext cx="11241221" cy="43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56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✔"/>
            </a:pPr>
            <a:r>
              <a:rPr lang="ko-KR" altLang="en-US" sz="2000" b="0" dirty="0"/>
              <a:t>파이프라인에서 수동승인에 대한 이메일 및 검토 화면 스크린샷​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175F3564-41E3-5265-EECD-320AC3D66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281" y="2329920"/>
            <a:ext cx="3480513" cy="33873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0E308668-DD39-153B-7B45-52FF4D74C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1969" y="2309820"/>
            <a:ext cx="3407978" cy="36997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63C00A23-217A-706F-B612-FDBBA841D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8450" y="2309820"/>
            <a:ext cx="3478395" cy="34665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8" name="Google Shape;212;p11">
            <a:extLst>
              <a:ext uri="{FF2B5EF4-FFF2-40B4-BE49-F238E27FC236}">
                <a16:creationId xmlns:a16="http://schemas.microsoft.com/office/drawing/2014/main" id="{D61C53DB-CD21-302E-9566-D37785AD2A41}"/>
              </a:ext>
            </a:extLst>
          </p:cNvPr>
          <p:cNvSpPr/>
          <p:nvPr/>
        </p:nvSpPr>
        <p:spPr>
          <a:xfrm>
            <a:off x="8004708" y="3865924"/>
            <a:ext cx="390793" cy="27518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2">
              <a:lumMod val="25000"/>
              <a:lumOff val="75000"/>
            </a:schemeClr>
          </a:solidFill>
          <a:ln w="19050" cap="flat" cmpd="sng">
            <a:solidFill>
              <a:srgbClr val="08283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 txBox="1">
            <a:spLocks noGrp="1"/>
          </p:cNvSpPr>
          <p:nvPr>
            <p:ph type="sldNum" idx="12"/>
          </p:nvPr>
        </p:nvSpPr>
        <p:spPr>
          <a:xfrm>
            <a:off x="11469950" y="6492875"/>
            <a:ext cx="5950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26</a:t>
            </a:fld>
            <a:endParaRPr/>
          </a:p>
        </p:txBody>
      </p:sp>
      <p:sp>
        <p:nvSpPr>
          <p:cNvPr id="200" name="Google Shape;200;p10"/>
          <p:cNvSpPr txBox="1">
            <a:spLocks noGrp="1"/>
          </p:cNvSpPr>
          <p:nvPr>
            <p:ph type="title"/>
          </p:nvPr>
        </p:nvSpPr>
        <p:spPr>
          <a:xfrm>
            <a:off x="177800" y="144035"/>
            <a:ext cx="10515600" cy="75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3000"/>
            </a:pPr>
            <a:r>
              <a:rPr lang="en-US" altLang="ko-KR" sz="3000" dirty="0"/>
              <a:t>CloudWatch </a:t>
            </a:r>
            <a:r>
              <a:rPr lang="ko-KR" altLang="en-US" sz="3000" dirty="0"/>
              <a:t>모니터링 </a:t>
            </a:r>
            <a:r>
              <a:rPr lang="en-US" altLang="ko-KR" sz="3000" dirty="0"/>
              <a:t>+</a:t>
            </a:r>
            <a:r>
              <a:rPr lang="ko-KR" altLang="en-US" sz="3000" dirty="0"/>
              <a:t> 수동 승인 이메일 검토</a:t>
            </a:r>
            <a:endParaRPr dirty="0"/>
          </a:p>
        </p:txBody>
      </p:sp>
      <p:sp>
        <p:nvSpPr>
          <p:cNvPr id="201" name="Google Shape;201;p10"/>
          <p:cNvSpPr txBox="1">
            <a:spLocks noGrp="1"/>
          </p:cNvSpPr>
          <p:nvPr>
            <p:ph type="body" idx="1"/>
          </p:nvPr>
        </p:nvSpPr>
        <p:spPr>
          <a:xfrm>
            <a:off x="427038" y="1401763"/>
            <a:ext cx="11241221" cy="43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56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✔"/>
            </a:pPr>
            <a:r>
              <a:rPr lang="ko-KR" sz="2000" b="0" dirty="0"/>
              <a:t>파이프라인에서 수동승인 단계가 추가된 </a:t>
            </a:r>
            <a:r>
              <a:rPr lang="ko-KR" altLang="en-US" sz="2000" b="0" dirty="0"/>
              <a:t>파이프라인 </a:t>
            </a:r>
            <a:endParaRPr sz="2000" b="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3E63A28-FFA5-B643-BDC4-7A9EDEE92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19" y="2082801"/>
            <a:ext cx="9598978" cy="354717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9FE5549-ACFF-D36D-8BE1-62571D28B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880" t="75253" r="50274" b="9193"/>
          <a:stretch>
            <a:fillRect/>
          </a:stretch>
        </p:blipFill>
        <p:spPr>
          <a:xfrm>
            <a:off x="3075708" y="4831030"/>
            <a:ext cx="3301045" cy="10067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23586c10d_3_0"/>
          <p:cNvSpPr txBox="1">
            <a:spLocks noGrp="1"/>
          </p:cNvSpPr>
          <p:nvPr>
            <p:ph type="sldNum" idx="12"/>
          </p:nvPr>
        </p:nvSpPr>
        <p:spPr>
          <a:xfrm>
            <a:off x="11469950" y="6492875"/>
            <a:ext cx="59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27</a:t>
            </a:fld>
            <a:endParaRPr/>
          </a:p>
        </p:txBody>
      </p:sp>
      <p:sp>
        <p:nvSpPr>
          <p:cNvPr id="218" name="Google Shape;218;g3f23586c10d_3_0"/>
          <p:cNvSpPr txBox="1">
            <a:spLocks noGrp="1"/>
          </p:cNvSpPr>
          <p:nvPr>
            <p:ph type="title"/>
          </p:nvPr>
        </p:nvSpPr>
        <p:spPr>
          <a:xfrm>
            <a:off x="177800" y="144035"/>
            <a:ext cx="105156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3000"/>
              <a:buFont typeface="Arial"/>
              <a:buNone/>
            </a:pPr>
            <a:r>
              <a:rPr lang="ko-KR" altLang="en-US" sz="3000" dirty="0"/>
              <a:t>추가 기능</a:t>
            </a:r>
            <a:endParaRPr dirty="0"/>
          </a:p>
        </p:txBody>
      </p:sp>
      <p:sp>
        <p:nvSpPr>
          <p:cNvPr id="3" name="Google Shape;201;p10">
            <a:extLst>
              <a:ext uri="{FF2B5EF4-FFF2-40B4-BE49-F238E27FC236}">
                <a16:creationId xmlns:a16="http://schemas.microsoft.com/office/drawing/2014/main" id="{25E74A8F-E432-3A6A-E46C-E5469F9088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7038" y="1401763"/>
            <a:ext cx="11241221" cy="43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56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✔"/>
            </a:pPr>
            <a:r>
              <a:rPr lang="ko-KR" altLang="en-US" sz="2000" b="0" dirty="0"/>
              <a:t>배포 후 실제 서비스 장애를 로그로 분석하고 해결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2FCC603-7374-2691-E59A-B277D339E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728" t="12383" r="2405" b="3538"/>
          <a:stretch>
            <a:fillRect/>
          </a:stretch>
        </p:blipFill>
        <p:spPr>
          <a:xfrm>
            <a:off x="427038" y="2450079"/>
            <a:ext cx="6177773" cy="2676001"/>
          </a:xfrm>
          <a:prstGeom prst="rect">
            <a:avLst/>
          </a:prstGeom>
        </p:spPr>
      </p:pic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8AFB29A9-974E-CFFF-C563-42BE7E85AF73}"/>
              </a:ext>
            </a:extLst>
          </p:cNvPr>
          <p:cNvSpPr/>
          <p:nvPr/>
        </p:nvSpPr>
        <p:spPr>
          <a:xfrm>
            <a:off x="7461944" y="2227997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H2</a:t>
            </a:r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 </a:t>
            </a:r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Db </a:t>
            </a:r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권한 </a:t>
            </a:r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permission Error</a:t>
            </a:r>
            <a:endParaRPr kumimoji="1" lang="ko-KR" altLang="en-US" sz="1600" b="1" dirty="0">
              <a:solidFill>
                <a:schemeClr val="bg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7FF456C1-A8D2-E6AE-43E2-368C85584195}"/>
              </a:ext>
            </a:extLst>
          </p:cNvPr>
          <p:cNvSpPr/>
          <p:nvPr/>
        </p:nvSpPr>
        <p:spPr>
          <a:xfrm>
            <a:off x="7461944" y="3031219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Spring boot App </a:t>
            </a:r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실행 실패</a:t>
            </a:r>
          </a:p>
        </p:txBody>
      </p:sp>
      <p:sp>
        <p:nvSpPr>
          <p:cNvPr id="10" name="Google Shape;139;p2">
            <a:extLst>
              <a:ext uri="{FF2B5EF4-FFF2-40B4-BE49-F238E27FC236}">
                <a16:creationId xmlns:a16="http://schemas.microsoft.com/office/drawing/2014/main" id="{E0B05A11-1521-A834-1E12-212AF1DB124C}"/>
              </a:ext>
            </a:extLst>
          </p:cNvPr>
          <p:cNvSpPr txBox="1"/>
          <p:nvPr/>
        </p:nvSpPr>
        <p:spPr>
          <a:xfrm rot="5400000">
            <a:off x="8994105" y="2624603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A90B531F-83A2-4EA6-F1BC-0B296E69DA59}"/>
              </a:ext>
            </a:extLst>
          </p:cNvPr>
          <p:cNvSpPr/>
          <p:nvPr/>
        </p:nvSpPr>
        <p:spPr>
          <a:xfrm>
            <a:off x="7461944" y="3834441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ALB Health Check</a:t>
            </a:r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 실패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F5B6B272-21CB-C56B-555F-B8FC5C6DCD3D}"/>
              </a:ext>
            </a:extLst>
          </p:cNvPr>
          <p:cNvSpPr/>
          <p:nvPr/>
        </p:nvSpPr>
        <p:spPr>
          <a:xfrm>
            <a:off x="7461944" y="4637663"/>
            <a:ext cx="3352800" cy="488417"/>
          </a:xfrm>
          <a:prstGeom prst="roundRect">
            <a:avLst/>
          </a:prstGeom>
          <a:solidFill>
            <a:srgbClr val="E0F1F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502</a:t>
            </a:r>
            <a:r>
              <a:rPr kumimoji="1" lang="ko-KR" altLang="en-US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 </a:t>
            </a:r>
            <a:r>
              <a:rPr kumimoji="1" lang="en-US" altLang="ko-KR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Bad Gateway</a:t>
            </a:r>
            <a:endParaRPr kumimoji="1" lang="ko-KR" altLang="en-US" sz="1600" b="1" dirty="0">
              <a:solidFill>
                <a:schemeClr val="bg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5" name="Google Shape;139;p2">
            <a:extLst>
              <a:ext uri="{FF2B5EF4-FFF2-40B4-BE49-F238E27FC236}">
                <a16:creationId xmlns:a16="http://schemas.microsoft.com/office/drawing/2014/main" id="{8FCFECC6-98D4-3B05-5DBA-E18B9FC4B6AB}"/>
              </a:ext>
            </a:extLst>
          </p:cNvPr>
          <p:cNvSpPr txBox="1"/>
          <p:nvPr/>
        </p:nvSpPr>
        <p:spPr>
          <a:xfrm rot="5400000">
            <a:off x="8994105" y="4231047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sp>
        <p:nvSpPr>
          <p:cNvPr id="17" name="Google Shape;139;p2">
            <a:extLst>
              <a:ext uri="{FF2B5EF4-FFF2-40B4-BE49-F238E27FC236}">
                <a16:creationId xmlns:a16="http://schemas.microsoft.com/office/drawing/2014/main" id="{E04648A9-E127-7417-81FE-AE5D5112DA8E}"/>
              </a:ext>
            </a:extLst>
          </p:cNvPr>
          <p:cNvSpPr txBox="1"/>
          <p:nvPr/>
        </p:nvSpPr>
        <p:spPr>
          <a:xfrm rot="5400000">
            <a:off x="8994105" y="3435864"/>
            <a:ext cx="28847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</a:pPr>
            <a:r>
              <a:rPr lang="en-US" altLang="ko-KR" sz="2000" dirty="0">
                <a:solidFill>
                  <a:srgbClr val="204F55"/>
                </a:solidFill>
              </a:rPr>
              <a:t>&gt;</a:t>
            </a:r>
            <a:endParaRPr sz="2000" dirty="0">
              <a:solidFill>
                <a:srgbClr val="204F55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90E2B3A-E4AA-B835-28A4-2D8B6622D9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984" t="18528" r="37686" b="72271"/>
          <a:stretch>
            <a:fillRect/>
          </a:stretch>
        </p:blipFill>
        <p:spPr>
          <a:xfrm>
            <a:off x="1627633" y="2291445"/>
            <a:ext cx="925972" cy="63093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>
          <a:extLst>
            <a:ext uri="{FF2B5EF4-FFF2-40B4-BE49-F238E27FC236}">
              <a16:creationId xmlns:a16="http://schemas.microsoft.com/office/drawing/2014/main" id="{E9A663BA-9EAE-62D7-A204-A699D472F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23586c10d_3_0">
            <a:extLst>
              <a:ext uri="{FF2B5EF4-FFF2-40B4-BE49-F238E27FC236}">
                <a16:creationId xmlns:a16="http://schemas.microsoft.com/office/drawing/2014/main" id="{47156FE1-93A1-422B-A7E4-53B2E4E477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69950" y="6492875"/>
            <a:ext cx="59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28</a:t>
            </a:fld>
            <a:endParaRPr/>
          </a:p>
        </p:txBody>
      </p:sp>
      <p:sp>
        <p:nvSpPr>
          <p:cNvPr id="218" name="Google Shape;218;g3f23586c10d_3_0">
            <a:extLst>
              <a:ext uri="{FF2B5EF4-FFF2-40B4-BE49-F238E27FC236}">
                <a16:creationId xmlns:a16="http://schemas.microsoft.com/office/drawing/2014/main" id="{979E16CE-C31B-248D-D33A-6DF4308D0B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800" y="144035"/>
            <a:ext cx="105156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3000"/>
              <a:buFont typeface="Arial"/>
              <a:buNone/>
            </a:pPr>
            <a:r>
              <a:rPr lang="ko-KR" sz="3000"/>
              <a:t>Trouble shooting </a:t>
            </a:r>
            <a:endParaRPr/>
          </a:p>
        </p:txBody>
      </p:sp>
      <p:sp>
        <p:nvSpPr>
          <p:cNvPr id="3" name="Google Shape;201;p10">
            <a:extLst>
              <a:ext uri="{FF2B5EF4-FFF2-40B4-BE49-F238E27FC236}">
                <a16:creationId xmlns:a16="http://schemas.microsoft.com/office/drawing/2014/main" id="{BC4A076E-22DD-6DEC-5634-D043ADB26B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7038" y="1401763"/>
            <a:ext cx="11241221" cy="43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56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4F55"/>
              </a:buClr>
              <a:buSzPts val="2000"/>
              <a:buFont typeface="Noto Sans Symbols"/>
              <a:buChar char="✔"/>
            </a:pPr>
            <a:r>
              <a:rPr lang="ko-KR" altLang="en-US" sz="2000" b="0" dirty="0"/>
              <a:t>배포 후 실제 서비스 장애를 로그로 분석하고 해결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F9A76BA-47EF-8318-D95A-FC0E5C94A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08" y="2343964"/>
            <a:ext cx="4222784" cy="30770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5863256-54F1-4A1D-DE03-B3F0618990A6}"/>
              </a:ext>
            </a:extLst>
          </p:cNvPr>
          <p:cNvSpPr txBox="1"/>
          <p:nvPr/>
        </p:nvSpPr>
        <p:spPr>
          <a:xfrm>
            <a:off x="5334069" y="4355781"/>
            <a:ext cx="67310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ko-KR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prepare.sh가</a:t>
            </a:r>
            <a:r>
              <a:rPr lang="ko-KR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ec2-user 권한으로 실행되며 H2 DB 파일 생성 권한 문제가 발생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ko-KR" altLang="ko-KR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ko-KR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appspec.yml의</a:t>
            </a:r>
            <a:r>
              <a:rPr lang="ko-KR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ko-KR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BeforeInstall</a:t>
            </a:r>
            <a:r>
              <a:rPr lang="ko-KR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단계에서 </a:t>
            </a:r>
            <a:r>
              <a:rPr lang="ko-KR" altLang="ko-KR" sz="1600" b="1" u="sng" dirty="0" err="1">
                <a:solidFill>
                  <a:schemeClr val="bg2">
                    <a:lumMod val="90000"/>
                    <a:lumOff val="10000"/>
                  </a:schemeClr>
                </a:solidFill>
              </a:rPr>
              <a:t>runas</a:t>
            </a:r>
            <a:r>
              <a:rPr lang="ko-KR" altLang="ko-KR" sz="1600" b="1" u="sng" dirty="0">
                <a:solidFill>
                  <a:schemeClr val="bg2">
                    <a:lumMod val="90000"/>
                    <a:lumOff val="10000"/>
                  </a:schemeClr>
                </a:solidFill>
              </a:rPr>
              <a:t>: ec2-user 설정을 제거</a:t>
            </a:r>
            <a:endParaRPr lang="en-US" altLang="ko-KR" sz="1600" b="1" u="sng" dirty="0">
              <a:solidFill>
                <a:schemeClr val="bg2">
                  <a:lumMod val="90000"/>
                  <a:lumOff val="10000"/>
                </a:schemeClr>
              </a:solidFill>
            </a:endParaRPr>
          </a:p>
          <a:p>
            <a:endParaRPr lang="ko-KR" altLang="ko-KR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배포 전 권한 정리 작업이 정상 수행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ko-KR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서버 실행 실패 및 502 </a:t>
            </a:r>
            <a:r>
              <a:rPr lang="ko-KR" altLang="ko-KR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Bad</a:t>
            </a:r>
            <a:r>
              <a:rPr lang="ko-KR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ko-KR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Gateway</a:t>
            </a:r>
            <a:r>
              <a:rPr lang="ko-KR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해결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D0B63A8-4F4B-CAFC-6353-30B9C5520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4272" y="2205100"/>
            <a:ext cx="5461000" cy="187747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5BD58BC-003C-3280-3B39-5A2576F82F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14" t="76763" r="66950" b="10772"/>
          <a:stretch>
            <a:fillRect/>
          </a:stretch>
        </p:blipFill>
        <p:spPr>
          <a:xfrm>
            <a:off x="5220774" y="3647859"/>
            <a:ext cx="2978821" cy="40735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B6F074-BBE2-2904-C763-4293897569D1}"/>
              </a:ext>
            </a:extLst>
          </p:cNvPr>
          <p:cNvSpPr txBox="1"/>
          <p:nvPr/>
        </p:nvSpPr>
        <p:spPr>
          <a:xfrm>
            <a:off x="748608" y="5340753"/>
            <a:ext cx="42227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App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이</a:t>
            </a:r>
            <a:r>
              <a:rPr lang="ko-KR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ec2-user 기준으로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통일하여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>
              <a:buNone/>
            </a:pPr>
            <a:r>
              <a:rPr lang="ko-KR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배포되고 실행되도록 맞추기 위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했던 것이 화근</a:t>
            </a:r>
            <a:endParaRPr lang="ko-KR" altLang="ko-KR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32511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1289</Words>
  <Application>Microsoft Macintosh PowerPoint</Application>
  <PresentationFormat>와이드스크린</PresentationFormat>
  <Paragraphs>272</Paragraphs>
  <Slides>28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2" baseType="lpstr">
      <vt:lpstr>Malgun Gothic</vt:lpstr>
      <vt:lpstr>Arial</vt:lpstr>
      <vt:lpstr>Noto Sans Symbols</vt:lpstr>
      <vt:lpstr>Office 테마</vt:lpstr>
      <vt:lpstr>PowerPoint 프레젠테이션</vt:lpstr>
      <vt:lpstr>목차</vt:lpstr>
      <vt:lpstr>일자별 결과물</vt:lpstr>
      <vt:lpstr>배포 전략</vt:lpstr>
      <vt:lpstr>시나리오 정립 및 아키텍쳐 설계</vt:lpstr>
      <vt:lpstr>시나리오 정립 및 아키텍쳐 설계</vt:lpstr>
      <vt:lpstr>CI 환경 구축 : CodePipeline &amp; CodeBuild</vt:lpstr>
      <vt:lpstr>CI 환경 구축 : CodePipeline &amp; CodeBuild</vt:lpstr>
      <vt:lpstr>CI 환경 구축 : CodePipeline &amp; CodeBuild</vt:lpstr>
      <vt:lpstr>CI 환경 구축 : CodePipeline &amp; CodeBuild</vt:lpstr>
      <vt:lpstr>CI 환경 구축 : CodePipeline &amp; CodeBuild</vt:lpstr>
      <vt:lpstr>CD 환경 구축 : CodeDeploy 기반 EC2 자동 배포</vt:lpstr>
      <vt:lpstr>CD 환경 구축 : CodeDeploy 기반 EC2 자동 배포</vt:lpstr>
      <vt:lpstr>CD 환경 구축 : CodeDeploy 기반 EC2 자동 배포</vt:lpstr>
      <vt:lpstr>CD 환경 구축 : CodeDeploy 기반 EC2 자동 배포</vt:lpstr>
      <vt:lpstr>CD 환경 구축 : CodeDeploy 기반 EC2 자동 배포</vt:lpstr>
      <vt:lpstr>CD 환경 구축 : CodeDeploy 연동 및 배포 자동화</vt:lpstr>
      <vt:lpstr>CD 환경 구축 : CodeDeploy 연동 및 배포 자동화</vt:lpstr>
      <vt:lpstr>CD 환경 구축 : CodeDeploy 연동 및 배포 자동화</vt:lpstr>
      <vt:lpstr>운영 인프라 확장 : ALB, Auto Scaling Group </vt:lpstr>
      <vt:lpstr>운영 인프라 확장 : ALB, Auto Scaling Group </vt:lpstr>
      <vt:lpstr>운영 인프라 확장 : ALB, Auto Scaling Group </vt:lpstr>
      <vt:lpstr>모니터링 : CloudWatch + SNS 기반 운영 확인</vt:lpstr>
      <vt:lpstr>모니터링 : CloudWatch + SNS 기반 운영 확인</vt:lpstr>
      <vt:lpstr>수동 승인 이메일</vt:lpstr>
      <vt:lpstr>CloudWatch 모니터링 + 수동 승인 이메일 검토</vt:lpstr>
      <vt:lpstr>추가 기능</vt:lpstr>
      <vt:lpstr>Trouble shooting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석지혜(AIVLE교육팀)</dc:creator>
  <cp:lastModifiedBy>최현준</cp:lastModifiedBy>
  <cp:revision>95</cp:revision>
  <dcterms:created xsi:type="dcterms:W3CDTF">2025-02-05T05:12:41Z</dcterms:created>
  <dcterms:modified xsi:type="dcterms:W3CDTF">2026-06-25T04:41:38Z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0x010100EEFD2EC9AE4E1C4E97A968ACD5F6A537</vt:lpwstr>
  </property>
  <property fmtid="{D5CDD505-2E9C-101B-9397-08002B2CF9AE}" pid="3" name="MSIP_Label_b16c548c-0cd3-4220-987a-a58bfd9a89d4_Enabled">
    <vt:lpwstr>true</vt:lpwstr>
  </property>
  <property fmtid="{D5CDD505-2E9C-101B-9397-08002B2CF9AE}" pid="4" name="MSIP_Label_b16c548c-0cd3-4220-987a-a58bfd9a89d4_SetDate">
    <vt:lpwstr>2025-03-18T00:11:04Z</vt:lpwstr>
  </property>
  <property fmtid="{D5CDD505-2E9C-101B-9397-08002B2CF9AE}" pid="5" name="MSIP_Label_b16c548c-0cd3-4220-987a-a58bfd9a89d4_Method">
    <vt:lpwstr>Privileged</vt:lpwstr>
  </property>
  <property fmtid="{D5CDD505-2E9C-101B-9397-08002B2CF9AE}" pid="6" name="MSIP_Label_b16c548c-0cd3-4220-987a-a58bfd9a89d4_Name">
    <vt:lpwstr>b16c548c-0cd3-4220-987a-a58bfd9a89d4</vt:lpwstr>
  </property>
  <property fmtid="{D5CDD505-2E9C-101B-9397-08002B2CF9AE}" pid="7" name="MSIP_Label_b16c548c-0cd3-4220-987a-a58bfd9a89d4_SiteId">
    <vt:lpwstr>522a0f89-ae58-43b6-821b-2b06cecc7d8a</vt:lpwstr>
  </property>
  <property fmtid="{D5CDD505-2E9C-101B-9397-08002B2CF9AE}" pid="8" name="MSIP_Label_b16c548c-0cd3-4220-987a-a58bfd9a89d4_ActionId">
    <vt:lpwstr>58a531f8-a013-4ebc-82e3-536694e20eb5</vt:lpwstr>
  </property>
  <property fmtid="{D5CDD505-2E9C-101B-9397-08002B2CF9AE}" pid="9" name="MSIP_Label_b16c548c-0cd3-4220-987a-a58bfd9a89d4_ContentBits">
    <vt:lpwstr>0</vt:lpwstr>
  </property>
  <property fmtid="{D5CDD505-2E9C-101B-9397-08002B2CF9AE}" pid="10" name="MSIP_Label_b16c548c-0cd3-4220-987a-a58bfd9a89d4_Tag">
    <vt:lpwstr>10, 0, 1, 1</vt:lpwstr>
  </property>
  <property fmtid="{D5CDD505-2E9C-101B-9397-08002B2CF9AE}" pid="11" name="MediaServiceImageTags">
    <vt:lpwstr/>
  </property>
</Properties>
</file>